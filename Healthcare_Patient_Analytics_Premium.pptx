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0" y="0"/>
            <a:ext cx="4144975" cy="6858000"/>
          </a:xfrm>
          <a:prstGeom prst="rect">
            <a:avLst/>
          </a:prstGeom>
          <a:solidFill>
            <a:srgbClr val="0E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731520"/>
            <a:ext cx="1280160" cy="1280160"/>
          </a:xfrm>
          <a:prstGeom prst="ellipse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740664"/>
            <a:ext cx="1280160" cy="12618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6" name="Oval 5"/>
          <p:cNvSpPr/>
          <p:nvPr/>
        </p:nvSpPr>
        <p:spPr>
          <a:xfrm>
            <a:off x="10058400" y="1554480"/>
            <a:ext cx="685800" cy="685800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0" y="1563624"/>
            <a:ext cx="685800" cy="6675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8" name="Oval 7"/>
          <p:cNvSpPr/>
          <p:nvPr/>
        </p:nvSpPr>
        <p:spPr>
          <a:xfrm>
            <a:off x="9144000" y="2834640"/>
            <a:ext cx="2011680" cy="2011680"/>
          </a:xfrm>
          <a:prstGeom prst="ellipse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0" y="2843784"/>
            <a:ext cx="2011680" cy="19933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10" name="Oval 9"/>
          <p:cNvSpPr/>
          <p:nvPr/>
        </p:nvSpPr>
        <p:spPr>
          <a:xfrm>
            <a:off x="10561320" y="4206240"/>
            <a:ext cx="914400" cy="914400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61320" y="4215383"/>
            <a:ext cx="91440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0" y="5029200"/>
            <a:ext cx="640080" cy="640080"/>
          </a:xfrm>
          <a:prstGeom prst="ellipse">
            <a:avLst/>
          </a:prstGeom>
          <a:solidFill>
            <a:srgbClr val="42B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50383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85800"/>
            <a:ext cx="6675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2677BE"/>
                </a:solidFill>
                <a:latin typeface="Aptos"/>
              </a:defRPr>
            </a:pPr>
            <a:r>
              <a:t>DATA ENGINEERING • HEALTHCARE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685800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500" b="1">
                <a:solidFill>
                  <a:srgbClr val="0E233D"/>
                </a:solidFill>
                <a:latin typeface="Aptos"/>
              </a:defRPr>
            </a:pPr>
            <a:r>
              <a:t>Healthcare</a:t>
            </a:r>
            <a:br/>
            <a:r>
              <a:t>Patient Analytics Pipeline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788920"/>
            <a:ext cx="6217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2F3A46"/>
                </a:solidFill>
                <a:latin typeface="Aptos"/>
              </a:defRPr>
            </a:pPr>
            <a:r>
              <a:t>From raw patient records to trusted risk metrics, dashboards and automated monitoring.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977639"/>
            <a:ext cx="157276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3977639"/>
            <a:ext cx="73152" cy="914400"/>
          </a:xfrm>
          <a:prstGeom prst="rect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42231"/>
            <a:ext cx="120700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E233D"/>
                </a:solidFill>
                <a:latin typeface="Aptos"/>
              </a:defRPr>
            </a:pPr>
            <a:r>
              <a:t>AWS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544568"/>
            <a:ext cx="1188720" cy="2011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2F3A46"/>
                </a:solidFill>
                <a:latin typeface="Aptos"/>
              </a:defRPr>
            </a:pPr>
          </a:p>
        </p:txBody>
      </p:sp>
      <p:sp>
        <p:nvSpPr>
          <p:cNvPr id="21" name="Rounded Rectangle 20"/>
          <p:cNvSpPr/>
          <p:nvPr/>
        </p:nvSpPr>
        <p:spPr>
          <a:xfrm>
            <a:off x="2496312" y="3977639"/>
            <a:ext cx="157276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96312" y="3977639"/>
            <a:ext cx="73152" cy="914400"/>
          </a:xfrm>
          <a:prstGeom prst="rect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7480" y="4142231"/>
            <a:ext cx="120700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E233D"/>
                </a:solidFill>
                <a:latin typeface="Aptos"/>
              </a:defRPr>
            </a:pPr>
            <a:r>
              <a:t>Databricks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4544568"/>
            <a:ext cx="1188720" cy="2011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2F3A46"/>
                </a:solidFill>
                <a:latin typeface="Aptos"/>
              </a:defRPr>
            </a:pPr>
          </a:p>
        </p:txBody>
      </p:sp>
      <p:sp>
        <p:nvSpPr>
          <p:cNvPr id="25" name="Rounded Rectangle 24"/>
          <p:cNvSpPr/>
          <p:nvPr/>
        </p:nvSpPr>
        <p:spPr>
          <a:xfrm>
            <a:off x="4279392" y="3977639"/>
            <a:ext cx="157276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9392" y="3977639"/>
            <a:ext cx="73152" cy="914400"/>
          </a:xfrm>
          <a:prstGeom prst="rect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4142231"/>
            <a:ext cx="120700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E233D"/>
                </a:solidFill>
                <a:latin typeface="Aptos"/>
              </a:defRPr>
            </a:pPr>
            <a:r>
              <a:t>Delta Lake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544568"/>
            <a:ext cx="1188720" cy="2011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2F3A46"/>
                </a:solidFill>
                <a:latin typeface="Aptos"/>
              </a:defRPr>
            </a:pPr>
          </a:p>
        </p:txBody>
      </p:sp>
      <p:sp>
        <p:nvSpPr>
          <p:cNvPr id="29" name="Rounded Rectangle 28"/>
          <p:cNvSpPr/>
          <p:nvPr/>
        </p:nvSpPr>
        <p:spPr>
          <a:xfrm>
            <a:off x="6062472" y="3977639"/>
            <a:ext cx="1572768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62472" y="3977639"/>
            <a:ext cx="73152" cy="914400"/>
          </a:xfrm>
          <a:prstGeom prst="rect">
            <a:avLst/>
          </a:prstGeom>
          <a:solidFill>
            <a:srgbClr val="F29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4142231"/>
            <a:ext cx="120700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E233D"/>
                </a:solidFill>
                <a:latin typeface="Aptos"/>
              </a:defRPr>
            </a:pPr>
            <a:r>
              <a:t>Airflow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544568"/>
            <a:ext cx="1188720" cy="2011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2F3A46"/>
                </a:solidFill>
                <a:latin typeface="Aptos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731520" y="5806440"/>
            <a:ext cx="6217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687684"/>
                </a:solidFill>
                <a:latin typeface="Aptos"/>
              </a:defRPr>
            </a:pPr>
            <a:r>
              <a:t>Daily batch • Data Quality • Medallion Architecture • Alerts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01 •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Project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4290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73152" cy="1920240"/>
          </a:xfrm>
          <a:prstGeom prst="rect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581912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E233D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984248"/>
            <a:ext cx="3044952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2F3A46"/>
                </a:solidFill>
                <a:latin typeface="Aptos"/>
              </a:defRPr>
            </a:pPr>
            <a:r>
              <a:t>Kaggle Heart Disease Dataset / patient health records delivered as CSV files.</a:t>
            </a:r>
            <a:br/>
            <a:br/>
            <a:r>
              <a:t>Raw path pattern: s3://bucket/raw/health_records/YYYY/MM/DD/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417320"/>
            <a:ext cx="34290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417320"/>
            <a:ext cx="73152" cy="1920240"/>
          </a:xfrm>
          <a:prstGeom prst="rect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581912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E233D"/>
                </a:solidFill>
                <a:latin typeface="Aptos"/>
              </a:defRPr>
            </a:pPr>
            <a:r>
              <a:t>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84248"/>
            <a:ext cx="3044952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2F3A46"/>
                </a:solidFill>
                <a:latin typeface="Aptos"/>
              </a:defRPr>
            </a:pPr>
            <a:r>
              <a:t>Databricks + PySpark process records through Bronze, Silver and Gold Delta layers.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417320"/>
            <a:ext cx="34290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3" y="1417320"/>
            <a:ext cx="73152" cy="1920240"/>
          </a:xfrm>
          <a:prstGeom prst="rect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1581912"/>
            <a:ext cx="3063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E233D"/>
                </a:solidFill>
                <a:latin typeface="Aptos"/>
              </a:defRPr>
            </a:pPr>
            <a:r>
              <a:t>CONSUMPTION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1984248"/>
            <a:ext cx="3044952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2F3A46"/>
                </a:solidFill>
                <a:latin typeface="Aptos"/>
              </a:defRPr>
            </a:pPr>
            <a:r>
              <a:t>Gold datasets power healthcare analytics, risk metrics, dashboards and monitoring.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862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0E233D"/>
                </a:solidFill>
                <a:latin typeface="Aptos"/>
              </a:defRPr>
            </a:pPr>
            <a:r>
              <a:t>The pipeline is designed for reliable daily processing with validation, error handling and orchestration.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572000"/>
            <a:ext cx="566928" cy="566928"/>
          </a:xfrm>
          <a:prstGeom prst="ellipse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81144"/>
            <a:ext cx="566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0472" y="4553712"/>
            <a:ext cx="1783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E233D"/>
                </a:solidFill>
                <a:latin typeface="Aptos"/>
              </a:defRPr>
            </a:pPr>
            <a:r>
              <a:t>INGEST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90472" y="487375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87684"/>
                </a:solidFill>
                <a:latin typeface="Aptos"/>
              </a:defRPr>
            </a:pPr>
            <a:r>
              <a:t>Capture source records</a:t>
            </a:r>
          </a:p>
        </p:txBody>
      </p:sp>
      <p:sp>
        <p:nvSpPr>
          <p:cNvPr id="24" name="Oval 23"/>
          <p:cNvSpPr/>
          <p:nvPr/>
        </p:nvSpPr>
        <p:spPr>
          <a:xfrm>
            <a:off x="3566160" y="4572000"/>
            <a:ext cx="566928" cy="566928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0" y="4581144"/>
            <a:ext cx="566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553712"/>
            <a:ext cx="1783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E233D"/>
                </a:solidFill>
                <a:latin typeface="Aptos"/>
              </a:defRPr>
            </a:pPr>
            <a:r>
              <a:t>CLEAN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9392" y="487375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87684"/>
                </a:solidFill>
                <a:latin typeface="Aptos"/>
              </a:defRPr>
            </a:pPr>
            <a:r>
              <a:t>Standardize &amp; validate</a:t>
            </a:r>
          </a:p>
        </p:txBody>
      </p:sp>
      <p:sp>
        <p:nvSpPr>
          <p:cNvPr id="28" name="Oval 27"/>
          <p:cNvSpPr/>
          <p:nvPr/>
        </p:nvSpPr>
        <p:spPr>
          <a:xfrm>
            <a:off x="6355079" y="4572000"/>
            <a:ext cx="566928" cy="566928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79" y="4581144"/>
            <a:ext cx="566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68312" y="4553712"/>
            <a:ext cx="1783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E233D"/>
                </a:solidFill>
                <a:latin typeface="Aptos"/>
              </a:defRPr>
            </a:pPr>
            <a:r>
              <a:t>ANALYZE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68312" y="487375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87684"/>
                </a:solidFill>
                <a:latin typeface="Aptos"/>
              </a:defRPr>
            </a:pPr>
            <a:r>
              <a:t>Calculate risk metrics</a:t>
            </a:r>
          </a:p>
        </p:txBody>
      </p:sp>
      <p:sp>
        <p:nvSpPr>
          <p:cNvPr id="32" name="Oval 31"/>
          <p:cNvSpPr/>
          <p:nvPr/>
        </p:nvSpPr>
        <p:spPr>
          <a:xfrm>
            <a:off x="9143999" y="4572000"/>
            <a:ext cx="566928" cy="566928"/>
          </a:xfrm>
          <a:prstGeom prst="ellipse">
            <a:avLst/>
          </a:prstGeom>
          <a:solidFill>
            <a:srgbClr val="F29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3999" y="4581144"/>
            <a:ext cx="566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57231" y="4553712"/>
            <a:ext cx="1783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E233D"/>
                </a:solidFill>
                <a:latin typeface="Aptos"/>
              </a:defRPr>
            </a:pPr>
            <a:r>
              <a:t>MONITOR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231" y="4873752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87684"/>
                </a:solidFill>
                <a:latin typeface="Aptos"/>
              </a:defRPr>
            </a:pPr>
            <a:r>
              <a:t>Alert &amp; troubleshoot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02 •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What the solution achieves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4290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7" y="1618488"/>
            <a:ext cx="530352" cy="530352"/>
          </a:xfrm>
          <a:prstGeom prst="ellipse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627632"/>
            <a:ext cx="530352" cy="512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64592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0E233D"/>
                </a:solidFill>
                <a:latin typeface="Aptos"/>
              </a:defRPr>
            </a:pPr>
            <a:r>
              <a:t>Reliable 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103120"/>
            <a:ext cx="226771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2F3A46"/>
                </a:solidFill>
                <a:latin typeface="Aptos"/>
              </a:defRPr>
            </a:pPr>
            <a:r>
              <a:t>Bring patient records into cloud storage with controlled ingestion.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417320"/>
            <a:ext cx="34290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36008" y="1618488"/>
            <a:ext cx="530352" cy="530352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1627632"/>
            <a:ext cx="530352" cy="512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64592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0E233D"/>
                </a:solidFill>
                <a:latin typeface="Aptos"/>
              </a:defRPr>
            </a:pPr>
            <a:r>
              <a:t>Medallion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103120"/>
            <a:ext cx="226771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2F3A46"/>
                </a:solidFill>
                <a:latin typeface="Aptos"/>
              </a:defRPr>
            </a:pPr>
            <a:r>
              <a:t>Implement Bronze → Silver → Gold for progressively trusted data.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417320"/>
            <a:ext cx="34290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0768" y="1618488"/>
            <a:ext cx="530352" cy="530352"/>
          </a:xfrm>
          <a:prstGeom prst="ellipse">
            <a:avLst/>
          </a:prstGeom>
          <a:solidFill>
            <a:srgbClr val="42B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530352" cy="512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64592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0E233D"/>
                </a:solidFill>
                <a:latin typeface="Aptos"/>
              </a:defRPr>
            </a:pPr>
            <a:r>
              <a:t>Data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103120"/>
            <a:ext cx="226771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2F3A46"/>
                </a:solidFill>
                <a:latin typeface="Aptos"/>
              </a:defRPr>
            </a:pPr>
            <a:r>
              <a:t>Handle missing values, duplicates, invalid records and schema issues.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566160"/>
            <a:ext cx="34290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1247" y="3767328"/>
            <a:ext cx="530352" cy="530352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" y="3776472"/>
            <a:ext cx="530352" cy="512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79476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0E233D"/>
                </a:solidFill>
                <a:latin typeface="Aptos"/>
              </a:defRPr>
            </a:pPr>
            <a:r>
              <a:t>Risk 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251960"/>
            <a:ext cx="226771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2F3A46"/>
                </a:solidFill>
                <a:latin typeface="Aptos"/>
              </a:defRPr>
            </a:pPr>
            <a:r>
              <a:t>Create aggregated metrics and patient risk indicators.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3566160"/>
            <a:ext cx="34290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36008" y="3767328"/>
            <a:ext cx="530352" cy="530352"/>
          </a:xfrm>
          <a:prstGeom prst="ellipse">
            <a:avLst/>
          </a:prstGeom>
          <a:solidFill>
            <a:srgbClr val="F29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36008" y="3776472"/>
            <a:ext cx="530352" cy="512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0" y="379476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0E233D"/>
                </a:solidFill>
                <a:latin typeface="Aptos"/>
              </a:defRPr>
            </a:pPr>
            <a:r>
              <a:t>Monitoring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4251960"/>
            <a:ext cx="226771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2F3A46"/>
                </a:solidFill>
                <a:latin typeface="Aptos"/>
              </a:defRPr>
            </a:pPr>
            <a:r>
              <a:t>Use Slack alerts and logs for failures and anomalies.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0" y="3566160"/>
            <a:ext cx="34290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30768" y="3767328"/>
            <a:ext cx="530352" cy="530352"/>
          </a:xfrm>
          <a:prstGeom prst="ellipse">
            <a:avLst/>
          </a:prstGeom>
          <a:solidFill>
            <a:srgbClr val="E0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30768" y="3776472"/>
            <a:ext cx="530352" cy="5120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794760"/>
            <a:ext cx="2240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0E233D"/>
                </a:solidFill>
                <a:latin typeface="Aptos"/>
              </a:defRPr>
            </a:pPr>
            <a:r>
              <a:t>Automation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4251960"/>
            <a:ext cx="226771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2F3A46"/>
                </a:solidFill>
                <a:latin typeface="Aptos"/>
              </a:defRPr>
            </a:pPr>
            <a:r>
              <a:t>Orchestrate and validate the pipeline with Airflow and PyTest.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03 • SOURCE &amp;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Source Dataset &amp; Data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2120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73152" cy="4389120"/>
          </a:xfrm>
          <a:prstGeom prst="rect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581912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E233D"/>
                </a:solidFill>
                <a:latin typeface="Aptos"/>
              </a:defRPr>
            </a:pPr>
            <a:r>
              <a:t>SOURCE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984248"/>
            <a:ext cx="4828032" cy="3675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2F3A46"/>
                </a:solidFill>
                <a:latin typeface="Aptos"/>
              </a:defRPr>
            </a:pPr>
            <a:r>
              <a:t>• CSV patient health records</a:t>
            </a:r>
            <a:br/>
            <a:r>
              <a:t>• Patient vitals and diagnosis-related attributes</a:t>
            </a:r>
            <a:br/>
            <a:r>
              <a:t>• Daily cloud landing pattern</a:t>
            </a:r>
            <a:br/>
            <a:r>
              <a:t>• Source metadata captured for traceability</a:t>
            </a:r>
            <a:br/>
            <a:r>
              <a:t>• Raw data preserved for reprocessing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41732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E233D"/>
                </a:solidFill>
                <a:latin typeface="Aptos"/>
              </a:defRPr>
            </a:pPr>
            <a:r>
              <a:t>QUALITY CHECKS</a:t>
            </a:r>
          </a:p>
        </p:txBody>
      </p:sp>
      <p:sp>
        <p:nvSpPr>
          <p:cNvPr id="12" name="Oval 11"/>
          <p:cNvSpPr/>
          <p:nvPr/>
        </p:nvSpPr>
        <p:spPr>
          <a:xfrm>
            <a:off x="6236208" y="1874519"/>
            <a:ext cx="347472" cy="347472"/>
          </a:xfrm>
          <a:prstGeom prst="ellipse">
            <a:avLst/>
          </a:prstGeom>
          <a:solidFill>
            <a:srgbClr val="E0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883663"/>
            <a:ext cx="347472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856231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E233D"/>
                </a:solidFill>
                <a:latin typeface="Aptos"/>
              </a:defRPr>
            </a:pPr>
            <a:r>
              <a:t>Missing / NULL values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1856231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87684"/>
                </a:solidFill>
                <a:latin typeface="Aptos"/>
              </a:defRPr>
            </a:pPr>
            <a:r>
              <a:t>Detect and handle incomplete records</a:t>
            </a:r>
          </a:p>
        </p:txBody>
      </p:sp>
      <p:sp>
        <p:nvSpPr>
          <p:cNvPr id="16" name="Oval 15"/>
          <p:cNvSpPr/>
          <p:nvPr/>
        </p:nvSpPr>
        <p:spPr>
          <a:xfrm>
            <a:off x="6236208" y="2624327"/>
            <a:ext cx="347472" cy="347472"/>
          </a:xfrm>
          <a:prstGeom prst="ellipse">
            <a:avLst/>
          </a:prstGeom>
          <a:solidFill>
            <a:srgbClr val="F29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8" y="2633471"/>
            <a:ext cx="347472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606039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E233D"/>
                </a:solidFill>
                <a:latin typeface="Aptos"/>
              </a:defRPr>
            </a:pPr>
            <a:r>
              <a:t>Duplicates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606039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87684"/>
                </a:solidFill>
                <a:latin typeface="Aptos"/>
              </a:defRPr>
            </a:pPr>
            <a:r>
              <a:t>Remove duplicate patient records</a:t>
            </a:r>
          </a:p>
        </p:txBody>
      </p:sp>
      <p:sp>
        <p:nvSpPr>
          <p:cNvPr id="20" name="Oval 19"/>
          <p:cNvSpPr/>
          <p:nvPr/>
        </p:nvSpPr>
        <p:spPr>
          <a:xfrm>
            <a:off x="6236208" y="3374135"/>
            <a:ext cx="347472" cy="347472"/>
          </a:xfrm>
          <a:prstGeom prst="ellipse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6208" y="3383279"/>
            <a:ext cx="347472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3355847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E233D"/>
                </a:solidFill>
                <a:latin typeface="Aptos"/>
              </a:defRPr>
            </a:pPr>
            <a:r>
              <a:t>Schema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3355847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87684"/>
                </a:solidFill>
                <a:latin typeface="Aptos"/>
              </a:defRPr>
            </a:pPr>
            <a:r>
              <a:t>Validate columns and data types</a:t>
            </a:r>
          </a:p>
        </p:txBody>
      </p:sp>
      <p:sp>
        <p:nvSpPr>
          <p:cNvPr id="24" name="Oval 23"/>
          <p:cNvSpPr/>
          <p:nvPr/>
        </p:nvSpPr>
        <p:spPr>
          <a:xfrm>
            <a:off x="6236208" y="4123944"/>
            <a:ext cx="347472" cy="347472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6208" y="4133087"/>
            <a:ext cx="347472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105656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E233D"/>
                </a:solidFill>
                <a:latin typeface="Aptos"/>
              </a:defRPr>
            </a:pPr>
            <a:r>
              <a:t>Formats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4105656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87684"/>
                </a:solidFill>
                <a:latin typeface="Aptos"/>
              </a:defRPr>
            </a:pPr>
            <a:r>
              <a:t>Standardize dates and medical codes</a:t>
            </a:r>
          </a:p>
        </p:txBody>
      </p:sp>
      <p:sp>
        <p:nvSpPr>
          <p:cNvPr id="28" name="Oval 27"/>
          <p:cNvSpPr/>
          <p:nvPr/>
        </p:nvSpPr>
        <p:spPr>
          <a:xfrm>
            <a:off x="6236208" y="4873752"/>
            <a:ext cx="347472" cy="347472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4882896"/>
            <a:ext cx="347472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855464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E233D"/>
                </a:solidFill>
                <a:latin typeface="Aptos"/>
              </a:defRPr>
            </a:pPr>
            <a:r>
              <a:t>Malformed rows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4855464"/>
            <a:ext cx="2331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87684"/>
                </a:solidFill>
                <a:latin typeface="Aptos"/>
              </a:defRPr>
            </a:pPr>
            <a:r>
              <a:t>Isolate invalid input records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04 •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High-Level End-to-End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40280"/>
            <a:ext cx="1234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77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395728"/>
            <a:ext cx="1234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2677BE"/>
                </a:solidFill>
                <a:latin typeface="Aptos"/>
              </a:defRPr>
            </a:pPr>
            <a:r>
              <a:t>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788920"/>
            <a:ext cx="108813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2F3A46"/>
                </a:solidFill>
                <a:latin typeface="Aptos"/>
              </a:defRPr>
            </a:pPr>
            <a:r>
              <a:t>Source</a:t>
            </a:r>
            <a:br/>
            <a:r>
              <a:t>Records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55648" y="2807208"/>
            <a:ext cx="338328" cy="0"/>
          </a:xfrm>
          <a:prstGeom prst="line">
            <a:avLst/>
          </a:prstGeom>
          <a:ln w="31750">
            <a:solidFill>
              <a:srgbClr val="267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48840" y="2240280"/>
            <a:ext cx="1234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2395728"/>
            <a:ext cx="1234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28BEC9"/>
                </a:solidFill>
                <a:latin typeface="Aptos"/>
              </a:defRPr>
            </a:pPr>
            <a:r>
              <a:t>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1992" y="2788920"/>
            <a:ext cx="108813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2F3A46"/>
                </a:solidFill>
                <a:latin typeface="Aptos"/>
              </a:defRPr>
            </a:pPr>
            <a:r>
              <a:t>Raw / Data</a:t>
            </a:r>
            <a:br/>
            <a:r>
              <a:t>Lake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01568" y="2807208"/>
            <a:ext cx="338328" cy="0"/>
          </a:xfrm>
          <a:prstGeom prst="line">
            <a:avLst/>
          </a:prstGeom>
          <a:ln w="31750">
            <a:solidFill>
              <a:srgbClr val="28BE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794760" y="2240280"/>
            <a:ext cx="1234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9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2395728"/>
            <a:ext cx="1234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189D8B"/>
                </a:solidFill>
                <a:latin typeface="Aptos"/>
              </a:defRPr>
            </a:pPr>
            <a:r>
              <a:t>ADF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7912" y="2788920"/>
            <a:ext cx="108813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2F3A46"/>
                </a:solidFill>
                <a:latin typeface="Aptos"/>
              </a:defRPr>
            </a:pPr>
            <a:r>
              <a:t>Ingestion +</a:t>
            </a:r>
            <a:br/>
            <a:r>
              <a:t>Parquet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047488" y="2807208"/>
            <a:ext cx="338328" cy="0"/>
          </a:xfrm>
          <a:prstGeom prst="line">
            <a:avLst/>
          </a:prstGeom>
          <a:ln w="31750">
            <a:solidFill>
              <a:srgbClr val="189D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2240280"/>
            <a:ext cx="1234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15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680" y="2395728"/>
            <a:ext cx="1234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715BBE"/>
                </a:solidFill>
                <a:latin typeface="Aptos"/>
              </a:defRPr>
            </a:pPr>
            <a:r>
              <a:t>DBX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2788920"/>
            <a:ext cx="108813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2F3A46"/>
                </a:solidFill>
                <a:latin typeface="Aptos"/>
              </a:defRPr>
            </a:pPr>
            <a:r>
              <a:t>Databricks</a:t>
            </a:r>
            <a:br/>
            <a:r>
              <a:t>Bronze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93408" y="2807208"/>
            <a:ext cx="338328" cy="0"/>
          </a:xfrm>
          <a:prstGeom prst="line">
            <a:avLst/>
          </a:prstGeom>
          <a:ln w="31750">
            <a:solidFill>
              <a:srgbClr val="715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086600" y="2240280"/>
            <a:ext cx="1234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2B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86600" y="2395728"/>
            <a:ext cx="1234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42B174"/>
                </a:solidFill>
                <a:latin typeface="Aptos"/>
              </a:defRPr>
            </a:pPr>
            <a:r>
              <a:t>SILVER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2788920"/>
            <a:ext cx="108813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2F3A46"/>
                </a:solidFill>
                <a:latin typeface="Aptos"/>
              </a:defRPr>
            </a:pPr>
            <a:r>
              <a:t>Clean +</a:t>
            </a:r>
            <a:br/>
            <a:r>
              <a:t>Enrich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39328" y="2807208"/>
            <a:ext cx="338328" cy="0"/>
          </a:xfrm>
          <a:prstGeom prst="line">
            <a:avLst/>
          </a:prstGeom>
          <a:ln w="31750">
            <a:solidFill>
              <a:srgbClr val="42B1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732520" y="2240280"/>
            <a:ext cx="1234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9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2395728"/>
            <a:ext cx="1234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29746"/>
                </a:solidFill>
                <a:latin typeface="Aptos"/>
              </a:defRPr>
            </a:pPr>
            <a:r>
              <a:t>GOLD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05672" y="2788920"/>
            <a:ext cx="108813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2F3A46"/>
                </a:solidFill>
                <a:latin typeface="Aptos"/>
              </a:defRPr>
            </a:pPr>
            <a:r>
              <a:t>Metrics +</a:t>
            </a:r>
            <a:br/>
            <a:r>
              <a:t>Risk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985248" y="2807208"/>
            <a:ext cx="338328" cy="0"/>
          </a:xfrm>
          <a:prstGeom prst="line">
            <a:avLst/>
          </a:prstGeom>
          <a:ln w="31750">
            <a:solidFill>
              <a:srgbClr val="F297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378440" y="2240280"/>
            <a:ext cx="1234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78440" y="2395728"/>
            <a:ext cx="1234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E05B5B"/>
                </a:solidFill>
                <a:latin typeface="Aptos"/>
              </a:defRPr>
            </a:pPr>
            <a:r>
              <a:t>BI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1592" y="2788920"/>
            <a:ext cx="1088136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2F3A46"/>
                </a:solidFill>
                <a:latin typeface="Aptos"/>
              </a:defRPr>
            </a:pPr>
            <a:r>
              <a:t>Dashboards</a:t>
            </a:r>
            <a:br/>
            <a:r>
              <a:t>&amp; Insights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06908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0E233D"/>
                </a:solidFill>
                <a:latin typeface="Aptos"/>
              </a:defRPr>
            </a:pPr>
            <a:r>
              <a:t>CROSS-CUTTING CONTROLS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4572000"/>
            <a:ext cx="15544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727448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1">
                <a:solidFill>
                  <a:srgbClr val="715BBE"/>
                </a:solidFill>
                <a:latin typeface="Aptos"/>
              </a:defRPr>
            </a:pPr>
            <a:r>
              <a:t>Unity Catalog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560320" y="4572000"/>
            <a:ext cx="15544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60320" y="4727448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1">
                <a:solidFill>
                  <a:srgbClr val="189D8B"/>
                </a:solidFill>
                <a:latin typeface="Aptos"/>
              </a:defRPr>
            </a:pPr>
            <a:r>
              <a:t>dbt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89120" y="4572000"/>
            <a:ext cx="15544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0" y="4727448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1">
                <a:solidFill>
                  <a:srgbClr val="F29746"/>
                </a:solidFill>
                <a:latin typeface="Aptos"/>
              </a:defRPr>
            </a:pPr>
            <a:r>
              <a:t>Airflow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4572000"/>
            <a:ext cx="15544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0" y="4727448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1">
                <a:solidFill>
                  <a:srgbClr val="2677BE"/>
                </a:solidFill>
                <a:latin typeface="Aptos"/>
              </a:defRPr>
            </a:pPr>
            <a:r>
              <a:t>PyTest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46720" y="4572000"/>
            <a:ext cx="15544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4727448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1">
                <a:solidFill>
                  <a:srgbClr val="E05B5B"/>
                </a:solidFill>
                <a:latin typeface="Aptos"/>
              </a:defRPr>
            </a:pPr>
            <a:r>
              <a:t>Slack Alerts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75520" y="4572000"/>
            <a:ext cx="15544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4727448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1">
                <a:solidFill>
                  <a:srgbClr val="687684"/>
                </a:solidFill>
                <a:latin typeface="Aptos"/>
              </a:defRPr>
            </a:pPr>
            <a:r>
              <a:t>Error Logs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05 • DATA LAKE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Storage &amp; Target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1234440" cy="530352"/>
          </a:xfrm>
          <a:prstGeom prst="roundRect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1234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RAW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435608"/>
            <a:ext cx="4297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E233D"/>
                </a:solidFill>
                <a:latin typeface="Aptos"/>
              </a:defRPr>
            </a:pPr>
            <a:r>
              <a:t>Original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435608"/>
            <a:ext cx="4800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F3A46"/>
                </a:solidFill>
                <a:latin typeface="Aptos"/>
              </a:defRPr>
            </a:pPr>
            <a:r>
              <a:t>s3://bucket/raw/health_records/YYYY/MM/DD/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21408"/>
            <a:ext cx="1234440" cy="530352"/>
          </a:xfrm>
          <a:prstGeom prst="round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258568"/>
            <a:ext cx="1234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PARQUET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85415"/>
            <a:ext cx="4297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E233D"/>
                </a:solidFill>
                <a:latin typeface="Aptos"/>
              </a:defRPr>
            </a:pPr>
            <a:r>
              <a:t>Ingested 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185415"/>
            <a:ext cx="4800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F3A46"/>
                </a:solidFill>
                <a:latin typeface="Aptos"/>
              </a:defRPr>
            </a:pPr>
            <a:r>
              <a:t>Columnar files for scalable processing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871215"/>
            <a:ext cx="1234440" cy="530352"/>
          </a:xfrm>
          <a:prstGeom prst="roundRect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008375"/>
            <a:ext cx="1234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BRONZE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935223"/>
            <a:ext cx="4297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E233D"/>
                </a:solidFill>
                <a:latin typeface="Aptos"/>
              </a:defRPr>
            </a:pPr>
            <a:r>
              <a:t>health_catalog.raw.patient_records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35223"/>
            <a:ext cx="4800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F3A46"/>
                </a:solidFill>
                <a:latin typeface="Aptos"/>
              </a:defRPr>
            </a:pPr>
            <a:r>
              <a:t>Raw Delta table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21024"/>
            <a:ext cx="1234440" cy="530352"/>
          </a:xfrm>
          <a:prstGeom prst="roundRect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758184"/>
            <a:ext cx="1234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SILVER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685032"/>
            <a:ext cx="4297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E233D"/>
                </a:solidFill>
                <a:latin typeface="Aptos"/>
              </a:defRPr>
            </a:pPr>
            <a:r>
              <a:t>health_catalog.processed.patient_cleaned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685032"/>
            <a:ext cx="4800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F3A46"/>
                </a:solidFill>
                <a:latin typeface="Aptos"/>
              </a:defRPr>
            </a:pPr>
            <a:r>
              <a:t>Cleaned &amp; standardized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370831"/>
            <a:ext cx="1234440" cy="530352"/>
          </a:xfrm>
          <a:prstGeom prst="roundRect">
            <a:avLst/>
          </a:prstGeom>
          <a:solidFill>
            <a:srgbClr val="F29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507992"/>
            <a:ext cx="1234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GOLD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4434840"/>
            <a:ext cx="4297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E233D"/>
                </a:solidFill>
                <a:latin typeface="Aptos"/>
              </a:defRPr>
            </a:pPr>
            <a:r>
              <a:t>health_catalog.analytics.health_metrics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434840"/>
            <a:ext cx="4800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F3A46"/>
                </a:solidFill>
                <a:latin typeface="Aptos"/>
              </a:defRPr>
            </a:pPr>
            <a:r>
              <a:t>Aggregated risk metrics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120640"/>
            <a:ext cx="1234440" cy="530352"/>
          </a:xfrm>
          <a:prstGeom prst="roundRect">
            <a:avLst/>
          </a:prstGeom>
          <a:solidFill>
            <a:srgbClr val="E0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57800"/>
            <a:ext cx="1234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tos"/>
              </a:defRPr>
            </a:pPr>
            <a:r>
              <a:t>LOGS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5184648"/>
            <a:ext cx="4297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0E233D"/>
                </a:solidFill>
                <a:latin typeface="Aptos"/>
              </a:defRPr>
            </a:pPr>
            <a:r>
              <a:t>health_catalog.logs.etl_errors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184648"/>
            <a:ext cx="4800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2F3A46"/>
                </a:solidFill>
                <a:latin typeface="Aptos"/>
              </a:defRPr>
            </a:pPr>
            <a:r>
              <a:t>Errors &amp; monitoring details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06 • MEDALLION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Bronze → Silver → Gold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08760"/>
            <a:ext cx="34290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77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08760"/>
            <a:ext cx="3429000" cy="731520"/>
          </a:xfrm>
          <a:prstGeom prst="rect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19072"/>
            <a:ext cx="3429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Aptos"/>
              </a:defRPr>
            </a:pPr>
            <a:r>
              <a:t>BRONZE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56032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2677BE"/>
                </a:solidFill>
                <a:latin typeface="Aptos"/>
              </a:defRPr>
            </a:pPr>
            <a:r>
              <a:t>RAW FOUNDATION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063240"/>
            <a:ext cx="2788920" cy="2011680"/>
          </a:xfrm>
          <a:prstGeom prst="roundRect">
            <a:avLst/>
          </a:prstGeom>
          <a:solidFill>
            <a:srgbClr val="E6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3337560"/>
            <a:ext cx="23774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0E233D"/>
                </a:solidFill>
                <a:latin typeface="Aptos"/>
              </a:defRPr>
            </a:pPr>
            <a:r>
              <a:t>Preserve source data</a:t>
            </a:r>
            <a:br/>
            <a:r>
              <a:t>Traceability &amp; reprocessing</a:t>
            </a:r>
            <a:br/>
            <a:r>
              <a:t>Unity Catalog / Delta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50791" y="3657600"/>
            <a:ext cx="347473" cy="0"/>
          </a:xfrm>
          <a:prstGeom prst="line">
            <a:avLst/>
          </a:prstGeom>
          <a:ln w="31750">
            <a:solidFill>
              <a:srgbClr val="267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53128" y="1508760"/>
            <a:ext cx="34290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9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53128" y="1508760"/>
            <a:ext cx="3429000" cy="731520"/>
          </a:xfrm>
          <a:prstGeom prst="rect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8" y="1719072"/>
            <a:ext cx="3429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Aptos"/>
              </a:defRPr>
            </a:pPr>
            <a:r>
              <a:t>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56032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89D8B"/>
                </a:solidFill>
                <a:latin typeface="Aptos"/>
              </a:defRPr>
            </a:pPr>
            <a:r>
              <a:t>TRUSTED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73168" y="3063240"/>
            <a:ext cx="2788920" cy="2011680"/>
          </a:xfrm>
          <a:prstGeom prst="roundRect">
            <a:avLst/>
          </a:prstGeom>
          <a:solidFill>
            <a:srgbClr val="E4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83480" y="3337560"/>
            <a:ext cx="23774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0E233D"/>
                </a:solidFill>
                <a:latin typeface="Aptos"/>
              </a:defRPr>
            </a:pPr>
            <a:r>
              <a:t>Clean &amp; deduplicate</a:t>
            </a:r>
            <a:br/>
            <a:r>
              <a:t>Standardize formats</a:t>
            </a:r>
            <a:br/>
            <a:r>
              <a:t>Join dimensions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09560" y="3657600"/>
            <a:ext cx="347472" cy="0"/>
          </a:xfrm>
          <a:prstGeom prst="line">
            <a:avLst/>
          </a:prstGeom>
          <a:ln w="31750">
            <a:solidFill>
              <a:srgbClr val="189D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311896" y="1508760"/>
            <a:ext cx="34290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9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1508760"/>
            <a:ext cx="3429000" cy="731520"/>
          </a:xfrm>
          <a:prstGeom prst="rect">
            <a:avLst/>
          </a:prstGeom>
          <a:solidFill>
            <a:srgbClr val="F29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1896" y="1719072"/>
            <a:ext cx="3429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00" b="1">
                <a:solidFill>
                  <a:srgbClr val="FFFFFF"/>
                </a:solidFill>
                <a:latin typeface="Aptos"/>
              </a:defRPr>
            </a:pPr>
            <a:r>
              <a:t>GOLD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67928" y="256032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29746"/>
                </a:solidFill>
                <a:latin typeface="Aptos"/>
              </a:defRPr>
            </a:pPr>
            <a:r>
              <a:t>BUSINESS READY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31936" y="3063240"/>
            <a:ext cx="2788920" cy="2011680"/>
          </a:xfrm>
          <a:prstGeom prst="roundRect">
            <a:avLst/>
          </a:prstGeom>
          <a:solidFill>
            <a:srgbClr val="FDF1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42248" y="3337560"/>
            <a:ext cx="23774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0E233D"/>
                </a:solidFill>
                <a:latin typeface="Aptos"/>
              </a:defRPr>
            </a:pPr>
            <a:r>
              <a:t>Risk metrics</a:t>
            </a:r>
            <a:br/>
            <a:r>
              <a:t>Aggregations</a:t>
            </a:r>
            <a:br/>
            <a:r>
              <a:t>Dashboards &amp; analytics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07 • BRONZE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Bronze Layer — Raw Data Preservation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3832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73152" cy="4297680"/>
          </a:xfrm>
          <a:prstGeom prst="rect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581912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E233D"/>
                </a:solidFill>
                <a:latin typeface="Aptos"/>
              </a:defRPr>
            </a:pPr>
            <a:r>
              <a:t>TARGET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984248"/>
            <a:ext cx="2999232" cy="3584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2F3A46"/>
                </a:solidFill>
                <a:latin typeface="Aptos"/>
              </a:defRPr>
            </a:pPr>
            <a:r>
              <a:t>health_catalog.raw.patient_records</a:t>
            </a:r>
            <a:br/>
            <a:br/>
            <a:r>
              <a:t>Delta table containing raw patient records after ingestion.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1417320"/>
            <a:ext cx="33832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8" y="1417320"/>
            <a:ext cx="73152" cy="4297680"/>
          </a:xfrm>
          <a:prstGeom prst="rect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581912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E233D"/>
                </a:solidFill>
                <a:latin typeface="Aptos"/>
              </a:defRPr>
            </a:pPr>
            <a:r>
              <a:t>IMPLEMENTATION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1984248"/>
            <a:ext cx="2999232" cy="3584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2F3A46"/>
                </a:solidFill>
                <a:latin typeface="Aptos"/>
              </a:defRPr>
            </a:pPr>
            <a:r>
              <a:t>• Unity Catalog governance</a:t>
            </a:r>
            <a:br/>
            <a:r>
              <a:t>• External location where applicable</a:t>
            </a:r>
            <a:br/>
            <a:r>
              <a:t>• Preserve source structure</a:t>
            </a:r>
            <a:br/>
            <a:r>
              <a:t>• Capture ingestion metadata</a:t>
            </a:r>
            <a:br/>
            <a:r>
              <a:t>• Support reprocessing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74736" y="1417320"/>
            <a:ext cx="33832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74736" y="1417320"/>
            <a:ext cx="73152" cy="4297680"/>
          </a:xfrm>
          <a:prstGeom prst="rect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1581912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E233D"/>
                </a:solidFill>
                <a:latin typeface="Aptos"/>
              </a:defRPr>
            </a:pPr>
            <a:r>
              <a:t>KEY PRINCIPLE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1984248"/>
            <a:ext cx="2999232" cy="3584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2F3A46"/>
                </a:solidFill>
                <a:latin typeface="Aptos"/>
              </a:defRPr>
            </a:pPr>
            <a:r>
              <a:t>Bronze is the trusted landing foundation — raw enough for traceability, structured enough for downstream processing.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08 • SILVER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Silver Layer — Cleansing &amp; Transformation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Oval 6"/>
          <p:cNvSpPr/>
          <p:nvPr/>
        </p:nvSpPr>
        <p:spPr>
          <a:xfrm>
            <a:off x="1463040" y="1463040"/>
            <a:ext cx="594360" cy="594360"/>
          </a:xfrm>
          <a:prstGeom prst="ellipse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472184"/>
            <a:ext cx="59436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1284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2677BE"/>
                </a:solidFill>
                <a:latin typeface="Aptos"/>
              </a:defRPr>
            </a:pPr>
            <a:r>
              <a:t>DEDUPLICATE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2194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0">
                <a:solidFill>
                  <a:srgbClr val="2F3A46"/>
                </a:solidFill>
                <a:latin typeface="Aptos"/>
              </a:defRPr>
            </a:pPr>
            <a:r>
              <a:t>Remove duplicate patient records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54680" y="1828800"/>
            <a:ext cx="256031" cy="0"/>
          </a:xfrm>
          <a:prstGeom prst="line">
            <a:avLst/>
          </a:prstGeom>
          <a:ln w="31750">
            <a:solidFill>
              <a:srgbClr val="267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279392" y="1463040"/>
            <a:ext cx="594360" cy="594360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1472184"/>
            <a:ext cx="59436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221284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89D8B"/>
                </a:solidFill>
                <a:latin typeface="Aptos"/>
              </a:defRPr>
            </a:pPr>
            <a:r>
              <a:t>VALIDATE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606040"/>
            <a:ext cx="2194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0">
                <a:solidFill>
                  <a:srgbClr val="2F3A46"/>
                </a:solidFill>
                <a:latin typeface="Aptos"/>
              </a:defRPr>
            </a:pPr>
            <a:r>
              <a:t>Check schema and acceptable values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71032" y="1828800"/>
            <a:ext cx="256032" cy="0"/>
          </a:xfrm>
          <a:prstGeom prst="line">
            <a:avLst/>
          </a:prstGeom>
          <a:ln w="31750">
            <a:solidFill>
              <a:srgbClr val="189D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095744" y="1463040"/>
            <a:ext cx="594360" cy="594360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5744" y="1472184"/>
            <a:ext cx="59436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221284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715BBE"/>
                </a:solidFill>
                <a:latin typeface="Aptos"/>
              </a:defRPr>
            </a:pPr>
            <a:r>
              <a:t>STANDARDIZE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606040"/>
            <a:ext cx="2194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0">
                <a:solidFill>
                  <a:srgbClr val="2F3A46"/>
                </a:solidFill>
                <a:latin typeface="Aptos"/>
              </a:defRPr>
            </a:pPr>
            <a:r>
              <a:t>Dates, medical codes and types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87384" y="1828800"/>
            <a:ext cx="256032" cy="0"/>
          </a:xfrm>
          <a:prstGeom prst="line">
            <a:avLst/>
          </a:prstGeom>
          <a:ln w="31750">
            <a:solidFill>
              <a:srgbClr val="715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9912096" y="1463040"/>
            <a:ext cx="594360" cy="594360"/>
          </a:xfrm>
          <a:prstGeom prst="ellipse">
            <a:avLst/>
          </a:prstGeom>
          <a:solidFill>
            <a:srgbClr val="F29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2096" y="1472184"/>
            <a:ext cx="59436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2212848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29746"/>
                </a:solidFill>
                <a:latin typeface="Aptos"/>
              </a:defRPr>
            </a:pPr>
            <a:r>
              <a:t>ENRICH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2606040"/>
            <a:ext cx="2194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0">
                <a:solidFill>
                  <a:srgbClr val="2F3A46"/>
                </a:solidFill>
                <a:latin typeface="Aptos"/>
              </a:defRPr>
            </a:pPr>
            <a:r>
              <a:t>Join hospital &amp; demographic dimensions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" y="3977639"/>
            <a:ext cx="101955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4187952"/>
            <a:ext cx="9738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687684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498848"/>
            <a:ext cx="9738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0E233D"/>
                </a:solidFill>
                <a:latin typeface="Aptos"/>
              </a:defRPr>
            </a:pPr>
            <a:r>
              <a:t>health_catalog.processed.patient_cleaned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09 • GOLD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Gold Layer — Analytics &amp; Risk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24688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36192" y="1664208"/>
            <a:ext cx="502920" cy="502920"/>
          </a:xfrm>
          <a:prstGeom prst="ellipse">
            <a:avLst/>
          </a:prstGeom>
          <a:solidFill>
            <a:srgbClr val="E0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36192" y="1673352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04288"/>
            <a:ext cx="2194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E05B5B"/>
                </a:solidFill>
                <a:latin typeface="Aptos"/>
              </a:defRPr>
            </a:pPr>
            <a:r>
              <a:t>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6517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2F3A46"/>
                </a:solidFill>
                <a:latin typeface="Aptos"/>
              </a:defRPr>
            </a:pPr>
            <a:r>
              <a:t>Patient risk scores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463040"/>
            <a:ext cx="24688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52544" y="1664208"/>
            <a:ext cx="502920" cy="502920"/>
          </a:xfrm>
          <a:prstGeom prst="ellipse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673352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304288"/>
            <a:ext cx="2194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2677BE"/>
                </a:solidFill>
                <a:latin typeface="Aptos"/>
              </a:defRPr>
            </a:pPr>
            <a:r>
              <a:t>TRENDS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26517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2F3A46"/>
                </a:solidFill>
                <a:latin typeface="Aptos"/>
              </a:defRPr>
            </a:pPr>
            <a:r>
              <a:t>Population / health trends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1463040"/>
            <a:ext cx="24688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68896" y="1664208"/>
            <a:ext cx="502920" cy="502920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8896" y="1673352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304288"/>
            <a:ext cx="2194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189D8B"/>
                </a:solidFill>
                <a:latin typeface="Aptos"/>
              </a:defRPr>
            </a:pPr>
            <a:r>
              <a:t>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6517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2F3A46"/>
                </a:solidFill>
                <a:latin typeface="Aptos"/>
              </a:defRPr>
            </a:pPr>
            <a:r>
              <a:t>Validated analytical outputs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9136" y="1463040"/>
            <a:ext cx="24688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85248" y="1664208"/>
            <a:ext cx="502920" cy="502920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85248" y="1673352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2304288"/>
            <a:ext cx="2194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715BBE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2015" y="26517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2F3A46"/>
                </a:solidFill>
                <a:latin typeface="Aptos"/>
              </a:defRPr>
            </a:pPr>
            <a:r>
              <a:t>Consumption-ready tables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3886200"/>
            <a:ext cx="10561320" cy="1234440"/>
          </a:xfrm>
          <a:prstGeom prst="roundRect">
            <a:avLst/>
          </a:prstGeom>
          <a:solidFill>
            <a:srgbClr val="0E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133087"/>
            <a:ext cx="10012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28BEC9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480560"/>
            <a:ext cx="10012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health_catalog.analytics.health_metrics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10 • ETL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Low-Level Design — Metadata &amp;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3375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3337560" cy="658368"/>
          </a:xfrm>
          <a:prstGeom prst="rect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18488"/>
            <a:ext cx="3337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SOURCE METADATA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331720"/>
            <a:ext cx="256032" cy="256032"/>
          </a:xfrm>
          <a:prstGeom prst="ellipse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40863"/>
            <a:ext cx="25603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28600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2F3A46"/>
                </a:solidFill>
                <a:latin typeface="Aptos"/>
              </a:defRPr>
            </a:pPr>
            <a:r>
              <a:t>File path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2953512"/>
            <a:ext cx="256032" cy="256032"/>
          </a:xfrm>
          <a:prstGeom prst="ellipse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62656"/>
            <a:ext cx="25603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907792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2F3A46"/>
                </a:solidFill>
                <a:latin typeface="Aptos"/>
              </a:defRPr>
            </a:pPr>
            <a:r>
              <a:t>Format / schema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575304"/>
            <a:ext cx="256032" cy="256032"/>
          </a:xfrm>
          <a:prstGeom prst="ellipse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584448"/>
            <a:ext cx="25603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52958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2F3A46"/>
                </a:solidFill>
                <a:latin typeface="Aptos"/>
              </a:defRPr>
            </a:pPr>
            <a:r>
              <a:t>Arrival date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4197096"/>
            <a:ext cx="256032" cy="256032"/>
          </a:xfrm>
          <a:prstGeom prst="ellipse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06240"/>
            <a:ext cx="25603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4151376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2F3A46"/>
                </a:solidFill>
                <a:latin typeface="Aptos"/>
              </a:defRPr>
            </a:pPr>
            <a:r>
              <a:t>Source attributes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1417320"/>
            <a:ext cx="33375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34840" y="1417320"/>
            <a:ext cx="3337560" cy="658368"/>
          </a:xfrm>
          <a:prstGeom prst="rect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1618488"/>
            <a:ext cx="3337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TRANSFORMATION RULES</a:t>
            </a:r>
          </a:p>
        </p:txBody>
      </p:sp>
      <p:sp>
        <p:nvSpPr>
          <p:cNvPr id="25" name="Oval 24"/>
          <p:cNvSpPr/>
          <p:nvPr/>
        </p:nvSpPr>
        <p:spPr>
          <a:xfrm>
            <a:off x="4663440" y="2331720"/>
            <a:ext cx="256032" cy="256032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2340863"/>
            <a:ext cx="25603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3208" y="228600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2F3A46"/>
                </a:solidFill>
                <a:latin typeface="Aptos"/>
              </a:defRPr>
            </a:pPr>
            <a:r>
              <a:t>Parse CSV</a:t>
            </a:r>
          </a:p>
        </p:txBody>
      </p:sp>
      <p:sp>
        <p:nvSpPr>
          <p:cNvPr id="28" name="Oval 27"/>
          <p:cNvSpPr/>
          <p:nvPr/>
        </p:nvSpPr>
        <p:spPr>
          <a:xfrm>
            <a:off x="4663440" y="2953512"/>
            <a:ext cx="256032" cy="256032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2962656"/>
            <a:ext cx="25603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93208" y="2907792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2F3A46"/>
                </a:solidFill>
                <a:latin typeface="Aptos"/>
              </a:defRPr>
            </a:pPr>
            <a:r>
              <a:t>Deduplicate</a:t>
            </a:r>
          </a:p>
        </p:txBody>
      </p:sp>
      <p:sp>
        <p:nvSpPr>
          <p:cNvPr id="31" name="Oval 30"/>
          <p:cNvSpPr/>
          <p:nvPr/>
        </p:nvSpPr>
        <p:spPr>
          <a:xfrm>
            <a:off x="4663440" y="3575304"/>
            <a:ext cx="256032" cy="256032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584448"/>
            <a:ext cx="25603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3208" y="352958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2F3A46"/>
                </a:solidFill>
                <a:latin typeface="Aptos"/>
              </a:defRPr>
            </a:pPr>
            <a:r>
              <a:t>Standardize</a:t>
            </a:r>
          </a:p>
        </p:txBody>
      </p:sp>
      <p:sp>
        <p:nvSpPr>
          <p:cNvPr id="34" name="Oval 33"/>
          <p:cNvSpPr/>
          <p:nvPr/>
        </p:nvSpPr>
        <p:spPr>
          <a:xfrm>
            <a:off x="4663440" y="4197096"/>
            <a:ext cx="256032" cy="256032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4206240"/>
            <a:ext cx="25603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93208" y="4151376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2F3A46"/>
                </a:solidFill>
                <a:latin typeface="Aptos"/>
              </a:defRPr>
            </a:pPr>
            <a:r>
              <a:t>Join dimensions</a:t>
            </a:r>
          </a:p>
        </p:txBody>
      </p:sp>
      <p:sp>
        <p:nvSpPr>
          <p:cNvPr id="37" name="Oval 36"/>
          <p:cNvSpPr/>
          <p:nvPr/>
        </p:nvSpPr>
        <p:spPr>
          <a:xfrm>
            <a:off x="4663440" y="4818888"/>
            <a:ext cx="256032" cy="256032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63440" y="4828031"/>
            <a:ext cx="25603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93208" y="4773168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2F3A46"/>
                </a:solidFill>
                <a:latin typeface="Aptos"/>
              </a:defRPr>
            </a:pPr>
            <a:r>
              <a:t>Calculate risk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0" y="1417320"/>
            <a:ext cx="33375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1417320"/>
            <a:ext cx="3337560" cy="658368"/>
          </a:xfrm>
          <a:prstGeom prst="rect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1618488"/>
            <a:ext cx="3337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TARGET METADATA</a:t>
            </a:r>
          </a:p>
        </p:txBody>
      </p:sp>
      <p:sp>
        <p:nvSpPr>
          <p:cNvPr id="43" name="Oval 42"/>
          <p:cNvSpPr/>
          <p:nvPr/>
        </p:nvSpPr>
        <p:spPr>
          <a:xfrm>
            <a:off x="8458200" y="2331720"/>
            <a:ext cx="256032" cy="256032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2340863"/>
            <a:ext cx="25603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87968" y="228600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2F3A46"/>
                </a:solidFill>
                <a:latin typeface="Aptos"/>
              </a:defRPr>
            </a:pPr>
            <a:r>
              <a:t>Catalog / schema</a:t>
            </a:r>
          </a:p>
        </p:txBody>
      </p:sp>
      <p:sp>
        <p:nvSpPr>
          <p:cNvPr id="46" name="Oval 45"/>
          <p:cNvSpPr/>
          <p:nvPr/>
        </p:nvSpPr>
        <p:spPr>
          <a:xfrm>
            <a:off x="8458200" y="2953512"/>
            <a:ext cx="256032" cy="256032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58200" y="2962656"/>
            <a:ext cx="25603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87968" y="2907792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2F3A46"/>
                </a:solidFill>
                <a:latin typeface="Aptos"/>
              </a:defRPr>
            </a:pPr>
            <a:r>
              <a:t>Table name</a:t>
            </a:r>
          </a:p>
        </p:txBody>
      </p:sp>
      <p:sp>
        <p:nvSpPr>
          <p:cNvPr id="49" name="Oval 48"/>
          <p:cNvSpPr/>
          <p:nvPr/>
        </p:nvSpPr>
        <p:spPr>
          <a:xfrm>
            <a:off x="8458200" y="3575304"/>
            <a:ext cx="256032" cy="256032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3584448"/>
            <a:ext cx="25603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87968" y="352958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2F3A46"/>
                </a:solidFill>
                <a:latin typeface="Aptos"/>
              </a:defRPr>
            </a:pPr>
            <a:r>
              <a:t>Data types</a:t>
            </a:r>
          </a:p>
        </p:txBody>
      </p:sp>
      <p:sp>
        <p:nvSpPr>
          <p:cNvPr id="52" name="Oval 51"/>
          <p:cNvSpPr/>
          <p:nvPr/>
        </p:nvSpPr>
        <p:spPr>
          <a:xfrm>
            <a:off x="8458200" y="4197096"/>
            <a:ext cx="256032" cy="256032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58200" y="4206240"/>
            <a:ext cx="25603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87968" y="4151376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2F3A46"/>
                </a:solidFill>
                <a:latin typeface="Aptos"/>
              </a:defRPr>
            </a:pPr>
            <a:r>
              <a:t>Partition strategy</a:t>
            </a:r>
          </a:p>
        </p:txBody>
      </p:sp>
      <p:sp>
        <p:nvSpPr>
          <p:cNvPr id="55" name="Oval 54"/>
          <p:cNvSpPr/>
          <p:nvPr/>
        </p:nvSpPr>
        <p:spPr>
          <a:xfrm>
            <a:off x="8458200" y="4818888"/>
            <a:ext cx="256032" cy="256032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58200" y="4828031"/>
            <a:ext cx="25603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87968" y="4773168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1">
                <a:solidFill>
                  <a:srgbClr val="2F3A46"/>
                </a:solidFill>
                <a:latin typeface="Aptos"/>
              </a:defRPr>
            </a:pPr>
            <a:r>
              <a:t>Load status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11 • CONSUMPTION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Dashboards &amp; Healthcare 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8813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E233D"/>
                </a:solidFill>
                <a:latin typeface="Aptos"/>
              </a:defRPr>
            </a:pPr>
            <a:r>
              <a:t>PATIENT ANALYTICS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103120"/>
            <a:ext cx="2240280" cy="1051560"/>
          </a:xfrm>
          <a:prstGeom prst="round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04288"/>
            <a:ext cx="1965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687684"/>
                </a:solidFill>
                <a:latin typeface="Aptos"/>
              </a:defRPr>
            </a:pPr>
            <a:r>
              <a:t>PATIENTS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587752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2677BE"/>
                </a:solidFill>
                <a:latin typeface="Aptos"/>
              </a:defRPr>
            </a:pPr>
            <a:r>
              <a:t>12.4K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103120"/>
            <a:ext cx="2240280" cy="1051560"/>
          </a:xfrm>
          <a:prstGeom prst="round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79" y="2304288"/>
            <a:ext cx="1965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687684"/>
                </a:solidFill>
                <a:latin typeface="Aptos"/>
              </a:defRPr>
            </a:pPr>
            <a:r>
              <a:t>HIGH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79" y="2587752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E05B5B"/>
                </a:solidFill>
                <a:latin typeface="Aptos"/>
              </a:defRPr>
            </a:pPr>
            <a:r>
              <a:t>1.8K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103120"/>
            <a:ext cx="2240280" cy="1051560"/>
          </a:xfrm>
          <a:prstGeom prst="round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2304288"/>
            <a:ext cx="1965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687684"/>
                </a:solidFill>
                <a:latin typeface="Aptos"/>
              </a:defRPr>
            </a:pPr>
            <a:r>
              <a:t>CLEAN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587752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189D8B"/>
                </a:solidFill>
                <a:latin typeface="Aptos"/>
              </a:defRPr>
            </a:pPr>
            <a:r>
              <a:t>98.6%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95359" y="2103120"/>
            <a:ext cx="2240280" cy="1051560"/>
          </a:xfrm>
          <a:prstGeom prst="round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19" y="2304288"/>
            <a:ext cx="1965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687684"/>
                </a:solidFill>
                <a:latin typeface="Aptos"/>
              </a:defRPr>
            </a:pPr>
            <a:r>
              <a:t>DATA FRESHNESS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19" y="2587752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15BBE"/>
                </a:solidFill>
                <a:latin typeface="Aptos"/>
              </a:defRPr>
            </a:pPr>
            <a:r>
              <a:t>2 AM UTC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5204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0E233D"/>
                </a:solidFill>
                <a:latin typeface="Aptos"/>
              </a:defRPr>
            </a:pPr>
            <a:r>
              <a:t>RISK DISTRIBUTION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4160520"/>
            <a:ext cx="274320" cy="914400"/>
          </a:xfrm>
          <a:prstGeom prst="rect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0472" y="3657600"/>
            <a:ext cx="274320" cy="1417320"/>
          </a:xfrm>
          <a:prstGeom prst="rect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29384" y="4206240"/>
            <a:ext cx="274320" cy="868680"/>
          </a:xfrm>
          <a:prstGeom prst="rect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68296" y="3154679"/>
            <a:ext cx="274320" cy="1920240"/>
          </a:xfrm>
          <a:prstGeom prst="rect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07208" y="3840479"/>
            <a:ext cx="274320" cy="1234440"/>
          </a:xfrm>
          <a:prstGeom prst="rect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46120" y="3474720"/>
            <a:ext cx="274320" cy="1600200"/>
          </a:xfrm>
          <a:prstGeom prst="rect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352044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0E233D"/>
                </a:solidFill>
                <a:latin typeface="Aptos"/>
              </a:defRPr>
            </a:pPr>
            <a:r>
              <a:t>KEY INSIGHTS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388620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F3A46"/>
                </a:solidFill>
                <a:latin typeface="Aptos"/>
              </a:defRPr>
            </a:pPr>
            <a:r>
              <a:t>Patient risk indicators from Gold</a:t>
            </a:r>
          </a:p>
          <a:p>
            <a:pPr>
              <a:spcAft>
                <a:spcPts val="800"/>
              </a:spcAft>
              <a:defRPr sz="1100">
                <a:solidFill>
                  <a:srgbClr val="2F3A46"/>
                </a:solidFill>
                <a:latin typeface="Aptos"/>
              </a:defRPr>
            </a:pPr>
            <a:r>
              <a:t>Aggregated healthcare metrics</a:t>
            </a:r>
          </a:p>
          <a:p>
            <a:pPr>
              <a:spcAft>
                <a:spcPts val="800"/>
              </a:spcAft>
              <a:defRPr sz="1100">
                <a:solidFill>
                  <a:srgbClr val="2F3A46"/>
                </a:solidFill>
                <a:latin typeface="Aptos"/>
              </a:defRPr>
            </a:pPr>
            <a:r>
              <a:t>Analytics-ready reporting tables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352044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0E233D"/>
                </a:solidFill>
                <a:latin typeface="Aptos"/>
              </a:defRPr>
            </a:pPr>
            <a:r>
              <a:t>CONSUMPTION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3931920"/>
            <a:ext cx="2743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2F3A46"/>
                </a:solidFill>
                <a:latin typeface="Aptos"/>
              </a:defRPr>
            </a:pPr>
            <a:r>
              <a:t>Gold tables provide consistent, trusted data for dashboards and decision support.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12 •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Alerts, Monitoring &amp; Logging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1663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828800"/>
            <a:ext cx="594360" cy="594360"/>
          </a:xfrm>
          <a:prstGeom prst="ellipse">
            <a:avLst/>
          </a:prstGeom>
          <a:solidFill>
            <a:srgbClr val="E0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37943"/>
            <a:ext cx="59436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39" y="1737360"/>
            <a:ext cx="3794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E233D"/>
                </a:solidFill>
                <a:latin typeface="Aptos"/>
              </a:defRPr>
            </a:pPr>
            <a:r>
              <a:t>PIPELINE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39" y="2176272"/>
            <a:ext cx="3794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2F3A46"/>
                </a:solidFill>
                <a:latin typeface="Aptos"/>
              </a:defRPr>
            </a:pPr>
            <a:r>
              <a:t>Notify the team when ETL jobs fail.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1663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37960" y="1828800"/>
            <a:ext cx="594360" cy="594360"/>
          </a:xfrm>
          <a:prstGeom prst="ellipse">
            <a:avLst/>
          </a:prstGeom>
          <a:solidFill>
            <a:srgbClr val="F29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837943"/>
            <a:ext cx="59436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737360"/>
            <a:ext cx="3794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E233D"/>
                </a:solidFill>
                <a:latin typeface="Aptos"/>
              </a:defRPr>
            </a:pPr>
            <a:r>
              <a:t>DATA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176272"/>
            <a:ext cx="3794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2F3A46"/>
                </a:solidFill>
                <a:latin typeface="Aptos"/>
              </a:defRPr>
            </a:pPr>
            <a:r>
              <a:t>Flag quality or unexpected data conditions.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566160"/>
            <a:ext cx="51663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3977640"/>
            <a:ext cx="594360" cy="594360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86784"/>
            <a:ext cx="59436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39" y="3886200"/>
            <a:ext cx="3794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E233D"/>
                </a:solidFill>
                <a:latin typeface="Aptos"/>
              </a:defRPr>
            </a:pPr>
            <a:r>
              <a:t>SLACK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39" y="4325112"/>
            <a:ext cx="3794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2F3A46"/>
                </a:solidFill>
                <a:latin typeface="Aptos"/>
              </a:defRPr>
            </a:pPr>
            <a:r>
              <a:t>Send operational notifications in real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66160"/>
            <a:ext cx="51663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37960" y="3977640"/>
            <a:ext cx="594360" cy="594360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3986784"/>
            <a:ext cx="59436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886200"/>
            <a:ext cx="3794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E233D"/>
                </a:solidFill>
                <a:latin typeface="Aptos"/>
              </a:defRPr>
            </a:pPr>
            <a:r>
              <a:t>ERROR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325112"/>
            <a:ext cx="3794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2F3A46"/>
                </a:solidFill>
                <a:latin typeface="Aptos"/>
              </a:defRPr>
            </a:pPr>
            <a:r>
              <a:t>Store failures and abnormal records for troubleshooting.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20240" y="5532120"/>
            <a:ext cx="8321040" cy="475488"/>
          </a:xfrm>
          <a:prstGeom prst="roundRect">
            <a:avLst/>
          </a:prstGeom>
          <a:solidFill>
            <a:srgbClr val="0E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20240" y="5641848"/>
            <a:ext cx="83210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health_catalog.logs.etl_errors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13 •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Airflow Pipeline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15727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77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29968"/>
            <a:ext cx="15727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2677BE"/>
                </a:solidFill>
                <a:latin typeface="Aptos"/>
              </a:defRPr>
            </a:pPr>
            <a:r>
              <a:t>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395728"/>
            <a:ext cx="135331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2F3A46"/>
                </a:solidFill>
                <a:latin typeface="Aptos"/>
              </a:defRPr>
            </a:pPr>
            <a:r>
              <a:t>Daily trigger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93976" y="2450592"/>
            <a:ext cx="310896" cy="0"/>
          </a:xfrm>
          <a:prstGeom prst="line">
            <a:avLst/>
          </a:prstGeom>
          <a:ln w="31750">
            <a:solidFill>
              <a:srgbClr val="2677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41448" y="1828800"/>
            <a:ext cx="15727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8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1448" y="2029968"/>
            <a:ext cx="15727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28BEC9"/>
                </a:solidFill>
                <a:latin typeface="Aptos"/>
              </a:defRPr>
            </a:pPr>
            <a:r>
              <a:t>INGEST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1176" y="2395728"/>
            <a:ext cx="135331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2F3A46"/>
                </a:solidFill>
                <a:latin typeface="Aptos"/>
              </a:defRPr>
            </a:pPr>
            <a:r>
              <a:t>ADF / storage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32504" y="2450592"/>
            <a:ext cx="310896" cy="0"/>
          </a:xfrm>
          <a:prstGeom prst="line">
            <a:avLst/>
          </a:prstGeom>
          <a:ln w="31750">
            <a:solidFill>
              <a:srgbClr val="28BE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79976" y="1828800"/>
            <a:ext cx="15727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15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79976" y="2029968"/>
            <a:ext cx="15727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715BBE"/>
                </a:solidFill>
                <a:latin typeface="Aptos"/>
              </a:defRPr>
            </a:pPr>
            <a:r>
              <a:t>BRONZE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2395728"/>
            <a:ext cx="135331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2F3A46"/>
                </a:solidFill>
                <a:latin typeface="Aptos"/>
              </a:defRPr>
            </a:pPr>
            <a:r>
              <a:t>Raw Delta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71032" y="2450592"/>
            <a:ext cx="310896" cy="0"/>
          </a:xfrm>
          <a:prstGeom prst="line">
            <a:avLst/>
          </a:prstGeom>
          <a:ln w="31750">
            <a:solidFill>
              <a:srgbClr val="715B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18504" y="1828800"/>
            <a:ext cx="15727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89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4" y="2029968"/>
            <a:ext cx="15727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189D8B"/>
                </a:solidFill>
                <a:latin typeface="Aptos"/>
              </a:defRPr>
            </a:pPr>
            <a:r>
              <a:t>SILVER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2395728"/>
            <a:ext cx="135331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2F3A46"/>
                </a:solidFill>
                <a:latin typeface="Aptos"/>
              </a:defRPr>
            </a:pPr>
            <a:r>
              <a:t>Clean + enrich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909560" y="2450592"/>
            <a:ext cx="310896" cy="0"/>
          </a:xfrm>
          <a:prstGeom prst="line">
            <a:avLst/>
          </a:prstGeom>
          <a:ln w="31750">
            <a:solidFill>
              <a:srgbClr val="189D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57032" y="1828800"/>
            <a:ext cx="15727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9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7032" y="2029968"/>
            <a:ext cx="15727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29746"/>
                </a:solidFill>
                <a:latin typeface="Aptos"/>
              </a:defRPr>
            </a:pPr>
            <a:r>
              <a:t>GOLD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395728"/>
            <a:ext cx="135331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2F3A46"/>
                </a:solidFill>
                <a:latin typeface="Aptos"/>
              </a:defRPr>
            </a:pPr>
            <a:r>
              <a:t>Metrics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48088" y="2450592"/>
            <a:ext cx="310896" cy="0"/>
          </a:xfrm>
          <a:prstGeom prst="line">
            <a:avLst/>
          </a:prstGeom>
          <a:ln w="31750">
            <a:solidFill>
              <a:srgbClr val="F297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195560" y="1828800"/>
            <a:ext cx="15727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5B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95560" y="2029968"/>
            <a:ext cx="157276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E05B5B"/>
                </a:solidFill>
                <a:latin typeface="Aptos"/>
              </a:defRPr>
            </a:pPr>
            <a:r>
              <a:t>ALERT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2395728"/>
            <a:ext cx="135331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50" b="1">
                <a:solidFill>
                  <a:srgbClr val="2F3A46"/>
                </a:solidFill>
                <a:latin typeface="Aptos"/>
              </a:defRPr>
            </a:pPr>
            <a:r>
              <a:t>Slack / logs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8862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0E233D"/>
                </a:solidFill>
                <a:latin typeface="Aptos"/>
              </a:defRPr>
            </a:pPr>
            <a:r>
              <a:t>ORCHESTRATION RESPONSIBILITIES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4343400"/>
            <a:ext cx="9509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2F3A46"/>
                </a:solidFill>
                <a:latin typeface="Aptos"/>
              </a:defRPr>
            </a:pPr>
            <a:r>
              <a:t>Schedule daily execution and manage dependencies.</a:t>
            </a:r>
          </a:p>
          <a:p>
            <a:pPr>
              <a:spcAft>
                <a:spcPts val="800"/>
              </a:spcAft>
              <a:defRPr sz="1200">
                <a:solidFill>
                  <a:srgbClr val="2F3A46"/>
                </a:solidFill>
                <a:latin typeface="Aptos"/>
              </a:defRPr>
            </a:pPr>
            <a:r>
              <a:t>Trigger Databricks notebooks/jobs for each medallion layer.</a:t>
            </a:r>
          </a:p>
          <a:p>
            <a:pPr>
              <a:spcAft>
                <a:spcPts val="800"/>
              </a:spcAft>
              <a:defRPr sz="1200">
                <a:solidFill>
                  <a:srgbClr val="2F3A46"/>
                </a:solidFill>
                <a:latin typeface="Aptos"/>
              </a:defRPr>
            </a:pPr>
            <a:r>
              <a:t>Monitor task status and route failures to alerting.</a:t>
            </a:r>
          </a:p>
          <a:p>
            <a:pPr>
              <a:spcAft>
                <a:spcPts val="800"/>
              </a:spcAft>
              <a:defRPr sz="1200">
                <a:solidFill>
                  <a:srgbClr val="2F3A46"/>
                </a:solidFill>
                <a:latin typeface="Aptos"/>
              </a:defRPr>
            </a:pPr>
            <a:r>
              <a:t>Provide a repeatable, automated production workflow.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14 •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PyTest &amp; Data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7" name="Oval 6"/>
          <p:cNvSpPr/>
          <p:nvPr/>
        </p:nvSpPr>
        <p:spPr>
          <a:xfrm>
            <a:off x="1252728" y="1463040"/>
            <a:ext cx="658368" cy="658368"/>
          </a:xfrm>
          <a:prstGeom prst="ellipse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1472184"/>
            <a:ext cx="65836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31720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2677BE"/>
                </a:solidFill>
                <a:latin typeface="Aptos"/>
              </a:defRPr>
            </a:pPr>
            <a:r>
              <a:t>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2F3A46"/>
                </a:solidFill>
                <a:latin typeface="Aptos"/>
              </a:defRPr>
            </a:pPr>
            <a:r>
              <a:t>Required tables created</a:t>
            </a:r>
          </a:p>
        </p:txBody>
      </p:sp>
      <p:sp>
        <p:nvSpPr>
          <p:cNvPr id="11" name="Oval 10"/>
          <p:cNvSpPr/>
          <p:nvPr/>
        </p:nvSpPr>
        <p:spPr>
          <a:xfrm>
            <a:off x="3493008" y="1463040"/>
            <a:ext cx="658368" cy="658368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1472184"/>
            <a:ext cx="65836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331720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189D8B"/>
                </a:solidFill>
                <a:latin typeface="Aptos"/>
              </a:defRPr>
            </a:pPr>
            <a:r>
              <a:t>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74320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2F3A46"/>
                </a:solidFill>
                <a:latin typeface="Aptos"/>
              </a:defRPr>
            </a:pPr>
            <a:r>
              <a:t>Outputs are non-empty</a:t>
            </a:r>
          </a:p>
        </p:txBody>
      </p:sp>
      <p:sp>
        <p:nvSpPr>
          <p:cNvPr id="15" name="Oval 14"/>
          <p:cNvSpPr/>
          <p:nvPr/>
        </p:nvSpPr>
        <p:spPr>
          <a:xfrm>
            <a:off x="5733288" y="1463040"/>
            <a:ext cx="658368" cy="658368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33288" y="1472184"/>
            <a:ext cx="65836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331720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715BBE"/>
                </a:solidFill>
                <a:latin typeface="Aptos"/>
              </a:defRPr>
            </a:pPr>
            <a:r>
              <a:t>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74320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2F3A46"/>
                </a:solidFill>
                <a:latin typeface="Aptos"/>
              </a:defRPr>
            </a:pPr>
            <a:r>
              <a:t>Columns &amp; types validated</a:t>
            </a:r>
          </a:p>
        </p:txBody>
      </p:sp>
      <p:sp>
        <p:nvSpPr>
          <p:cNvPr id="19" name="Oval 18"/>
          <p:cNvSpPr/>
          <p:nvPr/>
        </p:nvSpPr>
        <p:spPr>
          <a:xfrm>
            <a:off x="7973568" y="1463040"/>
            <a:ext cx="658368" cy="658368"/>
          </a:xfrm>
          <a:prstGeom prst="ellipse">
            <a:avLst/>
          </a:prstGeom>
          <a:solidFill>
            <a:srgbClr val="F29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3568" y="1472184"/>
            <a:ext cx="65836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331720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F29746"/>
                </a:solidFill>
                <a:latin typeface="Aptos"/>
              </a:defRPr>
            </a:pPr>
            <a:r>
              <a:t>DUPLICATES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274320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2F3A46"/>
                </a:solidFill>
                <a:latin typeface="Aptos"/>
              </a:defRPr>
            </a:pPr>
            <a:r>
              <a:t>Duplicate detection</a:t>
            </a:r>
          </a:p>
        </p:txBody>
      </p:sp>
      <p:sp>
        <p:nvSpPr>
          <p:cNvPr id="23" name="Oval 22"/>
          <p:cNvSpPr/>
          <p:nvPr/>
        </p:nvSpPr>
        <p:spPr>
          <a:xfrm>
            <a:off x="10213848" y="1463040"/>
            <a:ext cx="658368" cy="658368"/>
          </a:xfrm>
          <a:prstGeom prst="ellipse">
            <a:avLst/>
          </a:prstGeom>
          <a:solidFill>
            <a:srgbClr val="E0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213848" y="1472184"/>
            <a:ext cx="658368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2331720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E05B5B"/>
                </a:solidFill>
                <a:latin typeface="Aptos"/>
              </a:defRPr>
            </a:pPr>
            <a:r>
              <a:t>VALUES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74320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50" b="0">
                <a:solidFill>
                  <a:srgbClr val="2F3A46"/>
                </a:solidFill>
                <a:latin typeface="Aptos"/>
              </a:defRPr>
            </a:pPr>
            <a:r>
              <a:t>Invalid values filtered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28800" y="3886200"/>
            <a:ext cx="8503920" cy="1005840"/>
          </a:xfrm>
          <a:prstGeom prst="roundRect">
            <a:avLst/>
          </a:prstGeom>
          <a:solidFill>
            <a:srgbClr val="0E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0" y="4133087"/>
            <a:ext cx="8503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28BEC9"/>
                </a:solidFill>
                <a:latin typeface="Aptos"/>
              </a:defRPr>
            </a:pPr>
            <a:r>
              <a:t>QA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453128"/>
            <a:ext cx="8503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Only validated datasets move forward to analytics consumption.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677BE"/>
                </a:solidFill>
                <a:latin typeface="Aptos"/>
              </a:defRPr>
            </a:pPr>
            <a:r>
              <a:t>15 • 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0292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0E233D"/>
                </a:solidFill>
                <a:latin typeface="Aptos"/>
              </a:defRPr>
            </a:pPr>
            <a:r>
              <a:t>Tools &amp; Technologies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914400" cy="54864"/>
          </a:xfrm>
          <a:prstGeom prst="rect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411480"/>
            <a:ext cx="502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1">
                <a:solidFill>
                  <a:srgbClr val="687684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383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7" y="1709928"/>
            <a:ext cx="502920" cy="502920"/>
          </a:xfrm>
          <a:prstGeom prst="ellipse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19072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64592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E233D"/>
                </a:solidFill>
                <a:latin typeface="Aptos"/>
              </a:defRPr>
            </a:pPr>
            <a:r>
              <a:t>AWS 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2039112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87684"/>
                </a:solidFill>
                <a:latin typeface="Aptos"/>
              </a:defRPr>
            </a:pPr>
            <a:r>
              <a:t>Cloud storage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417320"/>
            <a:ext cx="3383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36008" y="1709928"/>
            <a:ext cx="502920" cy="502920"/>
          </a:xfrm>
          <a:prstGeom prst="ellipse">
            <a:avLst/>
          </a:prstGeom>
          <a:solidFill>
            <a:srgbClr val="28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1719072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0952" y="164592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E233D"/>
                </a:solidFill>
                <a:latin typeface="Aptos"/>
              </a:defRPr>
            </a:pPr>
            <a:r>
              <a:t>ADF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2039112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87684"/>
                </a:solidFill>
                <a:latin typeface="Aptos"/>
              </a:defRPr>
            </a:pPr>
            <a:r>
              <a:t>Data ingestion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417320"/>
            <a:ext cx="3383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0768" y="1709928"/>
            <a:ext cx="502920" cy="502920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719072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164592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E233D"/>
                </a:solidFill>
                <a:latin typeface="Aptos"/>
              </a:defRPr>
            </a:pPr>
            <a:r>
              <a:t>Databricks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5712" y="2039112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87684"/>
                </a:solidFill>
                <a:latin typeface="Aptos"/>
              </a:defRPr>
            </a:pPr>
            <a:r>
              <a:t>Processing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2926080"/>
            <a:ext cx="3383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1247" y="3218688"/>
            <a:ext cx="502920" cy="502920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" y="3227832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315468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E233D"/>
                </a:solidFill>
                <a:latin typeface="Aptos"/>
              </a:defRPr>
            </a:pPr>
            <a:r>
              <a:t>PySpark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3547872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87684"/>
                </a:solidFill>
                <a:latin typeface="Aptos"/>
              </a:defRPr>
            </a:pPr>
            <a:r>
              <a:t>Transformations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2926080"/>
            <a:ext cx="3383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36008" y="3218688"/>
            <a:ext cx="502920" cy="502920"/>
          </a:xfrm>
          <a:prstGeom prst="ellipse">
            <a:avLst/>
          </a:prstGeom>
          <a:solidFill>
            <a:srgbClr val="42B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36008" y="3227832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0952" y="315468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E233D"/>
                </a:solidFill>
                <a:latin typeface="Aptos"/>
              </a:defRPr>
            </a:pPr>
            <a:r>
              <a:t>Delta Lake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0952" y="3547872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87684"/>
                </a:solidFill>
                <a:latin typeface="Aptos"/>
              </a:defRPr>
            </a:pPr>
            <a:r>
              <a:t>Reliable tables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0" y="2926080"/>
            <a:ext cx="3383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30768" y="3218688"/>
            <a:ext cx="502920" cy="502920"/>
          </a:xfrm>
          <a:prstGeom prst="ellipse">
            <a:avLst/>
          </a:prstGeom>
          <a:solidFill>
            <a:srgbClr val="F29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30768" y="3227832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5712" y="315468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E233D"/>
                </a:solidFill>
                <a:latin typeface="Aptos"/>
              </a:defRPr>
            </a:pPr>
            <a:r>
              <a:t>dbt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5712" y="3547872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87684"/>
                </a:solidFill>
                <a:latin typeface="Aptos"/>
              </a:defRPr>
            </a:pPr>
            <a:r>
              <a:t>SQL models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434840"/>
            <a:ext cx="3383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41247" y="4727448"/>
            <a:ext cx="502920" cy="502920"/>
          </a:xfrm>
          <a:prstGeom prst="ellipse">
            <a:avLst/>
          </a:prstGeom>
          <a:solidFill>
            <a:srgbClr val="E0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" y="4736592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36192" y="466344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E233D"/>
                </a:solidFill>
                <a:latin typeface="Aptos"/>
              </a:defRPr>
            </a:pPr>
            <a:r>
              <a:t>Airflow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36192" y="5056631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87684"/>
                </a:solidFill>
                <a:latin typeface="Aptos"/>
              </a:defRPr>
            </a:pPr>
            <a:r>
              <a:t>Orchestration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34840" y="4434840"/>
            <a:ext cx="3383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636008" y="4727448"/>
            <a:ext cx="502920" cy="502920"/>
          </a:xfrm>
          <a:prstGeom prst="ellipse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36008" y="4736592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30952" y="466344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E233D"/>
                </a:solidFill>
                <a:latin typeface="Aptos"/>
              </a:defRPr>
            </a:pPr>
            <a:r>
              <a:t>PyTest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30952" y="5056631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87684"/>
                </a:solidFill>
                <a:latin typeface="Aptos"/>
              </a:defRPr>
            </a:pPr>
            <a:r>
              <a:t>Testing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0" y="4434840"/>
            <a:ext cx="33832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430768" y="4727448"/>
            <a:ext cx="502920" cy="502920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30768" y="4736592"/>
            <a:ext cx="50292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25712" y="4663440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E233D"/>
                </a:solidFill>
                <a:latin typeface="Aptos"/>
              </a:defRPr>
            </a:pPr>
            <a:r>
              <a:t>Slack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25712" y="5056631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87684"/>
                </a:solidFill>
                <a:latin typeface="Aptos"/>
              </a:defRPr>
            </a:pPr>
            <a:r>
              <a:t>Alerts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AE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6574536"/>
            <a:ext cx="5029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00" b="1">
                <a:solidFill>
                  <a:srgbClr val="687684"/>
                </a:solidFill>
                <a:latin typeface="Aptos"/>
              </a:defRPr>
            </a:pPr>
            <a:r>
              <a:t>HEALTHCARE PATIENT ANALYTICS  •  DATA ENGINEERING PROJECT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8BEC9"/>
                </a:solidFill>
                <a:latin typeface="Aptos"/>
              </a:defRPr>
            </a:pPr>
            <a:r>
              <a:t>FINAL •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"/>
              </a:defRPr>
            </a:pPr>
            <a:r>
              <a:t>Business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9966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DCE8F3"/>
                </a:solidFill>
                <a:latin typeface="Aptos"/>
              </a:defRPr>
            </a:pPr>
            <a:r>
              <a:t>A scalable, automated healthcare data platform that turns raw records into reliable insights.</a:t>
            </a:r>
          </a:p>
        </p:txBody>
      </p:sp>
      <p:sp>
        <p:nvSpPr>
          <p:cNvPr id="6" name="Oval 5"/>
          <p:cNvSpPr/>
          <p:nvPr/>
        </p:nvSpPr>
        <p:spPr>
          <a:xfrm>
            <a:off x="749808" y="2697480"/>
            <a:ext cx="320040" cy="320040"/>
          </a:xfrm>
          <a:prstGeom prst="ellipse">
            <a:avLst/>
          </a:prstGeom>
          <a:solidFill>
            <a:srgbClr val="2677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706624"/>
            <a:ext cx="320040" cy="3017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79192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Scalable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2679192"/>
            <a:ext cx="7132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D6E0EA"/>
                </a:solidFill>
                <a:latin typeface="Aptos"/>
              </a:defRPr>
            </a:pPr>
            <a:r>
              <a:t>Supports daily healthcare data processing.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3264408"/>
            <a:ext cx="320040" cy="320040"/>
          </a:xfrm>
          <a:prstGeom prst="ellipse">
            <a:avLst/>
          </a:prstGeom>
          <a:solidFill>
            <a:srgbClr val="189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273552"/>
            <a:ext cx="320040" cy="3017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24612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Reliable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3246120"/>
            <a:ext cx="7132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D6E0EA"/>
                </a:solidFill>
                <a:latin typeface="Aptos"/>
              </a:defRPr>
            </a:pPr>
            <a:r>
              <a:t>Improves data quality and traceability.</a:t>
            </a:r>
          </a:p>
        </p:txBody>
      </p:sp>
      <p:sp>
        <p:nvSpPr>
          <p:cNvPr id="14" name="Oval 13"/>
          <p:cNvSpPr/>
          <p:nvPr/>
        </p:nvSpPr>
        <p:spPr>
          <a:xfrm>
            <a:off x="749808" y="3831336"/>
            <a:ext cx="320040" cy="320040"/>
          </a:xfrm>
          <a:prstGeom prst="ellipse">
            <a:avLst/>
          </a:prstGeom>
          <a:solidFill>
            <a:srgbClr val="715B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40480"/>
            <a:ext cx="320040" cy="3017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813048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Actionable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3813048"/>
            <a:ext cx="7132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D6E0EA"/>
                </a:solidFill>
                <a:latin typeface="Aptos"/>
              </a:defRPr>
            </a:pPr>
            <a:r>
              <a:t>Produces patient risk metrics for analytics.</a:t>
            </a:r>
          </a:p>
        </p:txBody>
      </p:sp>
      <p:sp>
        <p:nvSpPr>
          <p:cNvPr id="18" name="Oval 17"/>
          <p:cNvSpPr/>
          <p:nvPr/>
        </p:nvSpPr>
        <p:spPr>
          <a:xfrm>
            <a:off x="749808" y="4398264"/>
            <a:ext cx="320040" cy="320040"/>
          </a:xfrm>
          <a:prstGeom prst="ellipse">
            <a:avLst/>
          </a:prstGeom>
          <a:solidFill>
            <a:srgbClr val="F29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07408"/>
            <a:ext cx="320040" cy="3017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4379976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Automated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4379976"/>
            <a:ext cx="7132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D6E0EA"/>
                </a:solidFill>
                <a:latin typeface="Aptos"/>
              </a:defRPr>
            </a:pPr>
            <a:r>
              <a:t>Reduces manual monitoring and operational effort.</a:t>
            </a:r>
          </a:p>
        </p:txBody>
      </p:sp>
      <p:sp>
        <p:nvSpPr>
          <p:cNvPr id="22" name="Oval 21"/>
          <p:cNvSpPr/>
          <p:nvPr/>
        </p:nvSpPr>
        <p:spPr>
          <a:xfrm>
            <a:off x="749808" y="4965192"/>
            <a:ext cx="320040" cy="320040"/>
          </a:xfrm>
          <a:prstGeom prst="ellipse">
            <a:avLst/>
          </a:prstGeom>
          <a:solidFill>
            <a:srgbClr val="42B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974336"/>
            <a:ext cx="320040" cy="3017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4946904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ptos"/>
              </a:defRPr>
            </a:pPr>
            <a:r>
              <a:t>Extensible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4946904"/>
            <a:ext cx="7132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D6E0EA"/>
                </a:solidFill>
                <a:latin typeface="Aptos"/>
              </a:defRPr>
            </a:pPr>
            <a:r>
              <a:t>Ready for additional datasets and predictive use cases.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806440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952744"/>
            <a:ext cx="10698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0E233D"/>
                </a:solidFill>
                <a:latin typeface="Aptos"/>
              </a:defRPr>
            </a:pPr>
            <a:r>
              <a:t>RAW  →  TRUSTED  →  ANALYTICS  →  DECISION SUPPORT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