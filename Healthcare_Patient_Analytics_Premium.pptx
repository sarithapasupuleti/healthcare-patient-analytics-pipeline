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731520"/>
            <a:ext cx="1280160" cy="1280160"/>
          </a:xfrm>
          <a:prstGeom prst="ellipse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740664"/>
            <a:ext cx="12801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6" name="Oval 5"/>
          <p:cNvSpPr/>
          <p:nvPr/>
        </p:nvSpPr>
        <p:spPr>
          <a:xfrm>
            <a:off x="10058400" y="1554480"/>
            <a:ext cx="685800" cy="68580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563624"/>
            <a:ext cx="6858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2834640"/>
            <a:ext cx="2011680" cy="201168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2843784"/>
            <a:ext cx="2011680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0" name="Oval 9"/>
          <p:cNvSpPr/>
          <p:nvPr/>
        </p:nvSpPr>
        <p:spPr>
          <a:xfrm>
            <a:off x="10561320" y="4206240"/>
            <a:ext cx="914400" cy="91440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1320" y="4215383"/>
            <a:ext cx="914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5029200"/>
            <a:ext cx="640080" cy="64008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50383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8580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677BE"/>
                </a:solidFill>
                <a:latin typeface="Aptos"/>
              </a:defRPr>
            </a:pPr>
            <a:r>
              <a:t>DATA ENGINEERING • HEALTHCARE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234440"/>
            <a:ext cx="68580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0E233D"/>
                </a:solidFill>
                <a:latin typeface="Aptos"/>
              </a:defRPr>
            </a:pPr>
            <a:r>
              <a:t>Healthcare</a:t>
            </a:r>
            <a:br/>
            <a:r>
              <a:t>Patient Analytics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8892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F3A46"/>
                </a:solidFill>
                <a:latin typeface="Aptos"/>
              </a:defRPr>
            </a:pPr>
            <a:r>
              <a:t>From raw patient records to trusted risk metrics, dashboards and automated monitoring.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977639"/>
            <a:ext cx="73152" cy="9144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Azure Blob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249631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96312" y="3977639"/>
            <a:ext cx="73152" cy="91440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Databricks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427939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3977639"/>
            <a:ext cx="73152" cy="91440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Delta Lake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606247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62472" y="3977639"/>
            <a:ext cx="73152" cy="91440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Airflow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87684"/>
                </a:solidFill>
                <a:latin typeface="Aptos"/>
              </a:defRPr>
            </a:pPr>
            <a:r>
              <a:t>Daily batch • Data Quality • Medallion Architecture •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01 •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  <a:r>
              <a:t>Kaggle Heart Disease Dataset / patient health records delivered as CSV files.</a:t>
            </a:r>
            <a:br/>
            <a:br/>
            <a:r>
              <a:t>Raw path pattern: s3://bucket/raw/health_records/YYYY/MM/DD/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73152" cy="192024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  <a:r>
              <a:t>Databricks + PySpark process records through Bronze, Silver and Gold Delta layers.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417320"/>
            <a:ext cx="73152" cy="192024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CONSUMPTION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  <a:r>
              <a:t>Gold datasets power healthcare analytics, risk metrics, dashboards and monitoring.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E233D"/>
                </a:solidFill>
                <a:latin typeface="Aptos"/>
              </a:defRPr>
            </a:pPr>
            <a:r>
              <a:t>The pipeline is designed for reliable daily processing with validation, error handling and orchestration.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572000"/>
            <a:ext cx="566928" cy="56692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87684"/>
                </a:solidFill>
                <a:latin typeface="Aptos"/>
              </a:defRPr>
            </a:pPr>
            <a:r>
              <a:t>Capture source records</a:t>
            </a:r>
          </a:p>
        </p:txBody>
      </p:sp>
      <p:sp>
        <p:nvSpPr>
          <p:cNvPr id="24" name="Oval 23"/>
          <p:cNvSpPr/>
          <p:nvPr/>
        </p:nvSpPr>
        <p:spPr>
          <a:xfrm>
            <a:off x="3566160" y="4572000"/>
            <a:ext cx="566928" cy="56692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87684"/>
                </a:solidFill>
                <a:latin typeface="Aptos"/>
              </a:defRPr>
            </a:pPr>
            <a:r>
              <a:t>Standardize &amp; validate</a:t>
            </a:r>
          </a:p>
        </p:txBody>
      </p:sp>
      <p:sp>
        <p:nvSpPr>
          <p:cNvPr id="28" name="Oval 27"/>
          <p:cNvSpPr/>
          <p:nvPr/>
        </p:nvSpPr>
        <p:spPr>
          <a:xfrm>
            <a:off x="6355079" y="4572000"/>
            <a:ext cx="566928" cy="56692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87684"/>
                </a:solidFill>
                <a:latin typeface="Aptos"/>
              </a:defRPr>
            </a:pPr>
            <a:r>
              <a:t>Calculate risk metrics</a:t>
            </a:r>
          </a:p>
        </p:txBody>
      </p:sp>
      <p:sp>
        <p:nvSpPr>
          <p:cNvPr id="32" name="Oval 31"/>
          <p:cNvSpPr/>
          <p:nvPr/>
        </p:nvSpPr>
        <p:spPr>
          <a:xfrm>
            <a:off x="9143999" y="4572000"/>
            <a:ext cx="566928" cy="56692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99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1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1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87684"/>
                </a:solidFill>
                <a:latin typeface="Aptos"/>
              </a:defRPr>
            </a:pPr>
            <a:r>
              <a:t>Alert &amp; troubleshoot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02 •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What the solution achieves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618488"/>
            <a:ext cx="530352" cy="53035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233D"/>
                </a:solidFill>
                <a:latin typeface="Aptos"/>
              </a:defRPr>
            </a:pPr>
            <a:r>
              <a:t>Reliable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Bring patient records into cloud storage with controlled ingestion.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618488"/>
            <a:ext cx="530352" cy="53035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233D"/>
                </a:solidFill>
                <a:latin typeface="Aptos"/>
              </a:defRPr>
            </a:pPr>
            <a:r>
              <a:t>Medallion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Implement Bronze → Silver → Gold for progressively trusted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30768" y="1618488"/>
            <a:ext cx="530352" cy="530352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233D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Handle missing values, duplicates, invalid records and schema issues.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7" y="3767328"/>
            <a:ext cx="530352" cy="53035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233D"/>
                </a:solidFill>
                <a:latin typeface="Aptos"/>
              </a:defRPr>
            </a:pPr>
            <a:r>
              <a:t>Risk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Create aggregated metrics and patient risk indicators.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36008" y="3767328"/>
            <a:ext cx="530352" cy="53035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233D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Use Slack alerts and logs for failures and anomalies.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0768" y="3767328"/>
            <a:ext cx="530352" cy="53035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233D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Orchestrate and validate the pipeline with Airflow and PyTest.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03 • SOURCE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Source Dataset &amp; Data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SOURCE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4828032" cy="3675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  <a:r>
              <a:t>• CSV patient health records</a:t>
            </a:r>
            <a:br/>
            <a:r>
              <a:t>• Patient vitals and diagnosis-related attributes</a:t>
            </a:r>
            <a:br/>
            <a:r>
              <a:t>• Daily cloud landing pattern</a:t>
            </a:r>
            <a:br/>
            <a:r>
              <a:t>• Source metadata captured for traceability</a:t>
            </a:r>
            <a:br/>
            <a:r>
              <a:t>• Raw data preserved for 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12" name="Oval 11"/>
          <p:cNvSpPr/>
          <p:nvPr/>
        </p:nvSpPr>
        <p:spPr>
          <a:xfrm>
            <a:off x="6236208" y="1874519"/>
            <a:ext cx="347472" cy="34747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883663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856231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233D"/>
                </a:solidFill>
                <a:latin typeface="Aptos"/>
              </a:defRPr>
            </a:pPr>
            <a:r>
              <a:t>Missing / NULL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856231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Detect and handle incomplete records</a:t>
            </a:r>
          </a:p>
        </p:txBody>
      </p:sp>
      <p:sp>
        <p:nvSpPr>
          <p:cNvPr id="16" name="Oval 15"/>
          <p:cNvSpPr/>
          <p:nvPr/>
        </p:nvSpPr>
        <p:spPr>
          <a:xfrm>
            <a:off x="6236208" y="2624327"/>
            <a:ext cx="347472" cy="34747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633471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606039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233D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06039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Remove duplicate patient records</a:t>
            </a:r>
          </a:p>
        </p:txBody>
      </p:sp>
      <p:sp>
        <p:nvSpPr>
          <p:cNvPr id="20" name="Oval 19"/>
          <p:cNvSpPr/>
          <p:nvPr/>
        </p:nvSpPr>
        <p:spPr>
          <a:xfrm>
            <a:off x="6236208" y="3374135"/>
            <a:ext cx="347472" cy="34747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38327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355847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233D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355847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Validate columns and data types</a:t>
            </a:r>
          </a:p>
        </p:txBody>
      </p:sp>
      <p:sp>
        <p:nvSpPr>
          <p:cNvPr id="24" name="Oval 23"/>
          <p:cNvSpPr/>
          <p:nvPr/>
        </p:nvSpPr>
        <p:spPr>
          <a:xfrm>
            <a:off x="6236208" y="4123944"/>
            <a:ext cx="347472" cy="34747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4133087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10565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233D"/>
                </a:solidFill>
                <a:latin typeface="Aptos"/>
              </a:defRPr>
            </a:pPr>
            <a:r>
              <a:t>Formats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105656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Standardize dates and medical codes</a:t>
            </a:r>
          </a:p>
        </p:txBody>
      </p:sp>
      <p:sp>
        <p:nvSpPr>
          <p:cNvPr id="28" name="Oval 27"/>
          <p:cNvSpPr/>
          <p:nvPr/>
        </p:nvSpPr>
        <p:spPr>
          <a:xfrm>
            <a:off x="6236208" y="4873752"/>
            <a:ext cx="347472" cy="34747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48828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85546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233D"/>
                </a:solidFill>
                <a:latin typeface="Aptos"/>
              </a:defRPr>
            </a:pPr>
            <a:r>
              <a:t>Malformed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855464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Isolate invalid input 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04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High-Level End-to-End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00" name="High-Level 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907" y="1297304"/>
            <a:ext cx="7823880" cy="521592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05 • DATA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Storage &amp; Target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1234440" cy="530352"/>
          </a:xfrm>
          <a:prstGeom prst="round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43560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Original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3560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F3A46"/>
                </a:solidFill>
                <a:latin typeface="Aptos"/>
              </a:defRPr>
            </a:pPr>
            <a:r>
              <a:t>s3://bucket/raw/health_records/YYYY/MM/DD/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21408"/>
            <a:ext cx="1234440" cy="530352"/>
          </a:xfrm>
          <a:prstGeom prst="round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585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PARQUET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85415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Ingested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85415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F3A46"/>
                </a:solidFill>
                <a:latin typeface="Aptos"/>
              </a:defRPr>
            </a:pPr>
            <a:r>
              <a:t>Columnar files for scalable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71215"/>
            <a:ext cx="1234440" cy="530352"/>
          </a:xfrm>
          <a:prstGeom prst="round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08375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935223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health_catalog.raw.patient_records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35223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F3A46"/>
                </a:solidFill>
                <a:latin typeface="Aptos"/>
              </a:defRPr>
            </a:pPr>
            <a:r>
              <a:t>Raw Delta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21024"/>
            <a:ext cx="1234440" cy="530352"/>
          </a:xfrm>
          <a:prstGeom prst="round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5818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SILVER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685032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health_catalog.processed.patient_cleaned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85032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F3A46"/>
                </a:solidFill>
                <a:latin typeface="Aptos"/>
              </a:defRPr>
            </a:pPr>
            <a:r>
              <a:t>Cleaned &amp; standardized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70831"/>
            <a:ext cx="1234440" cy="530352"/>
          </a:xfrm>
          <a:prstGeom prst="round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079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GOLD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43484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health_catalog.analytics.health_metrics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434840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F3A46"/>
                </a:solidFill>
                <a:latin typeface="Aptos"/>
              </a:defRPr>
            </a:pPr>
            <a:r>
              <a:t>Aggregated risk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20640"/>
            <a:ext cx="1234440" cy="530352"/>
          </a:xfrm>
          <a:prstGeom prst="round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5780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18464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233D"/>
                </a:solidFill>
                <a:latin typeface="Aptos"/>
              </a:defRPr>
            </a:pPr>
            <a:r>
              <a:t>health_catalog.logs.etl_errors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8464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F3A46"/>
                </a:solidFill>
                <a:latin typeface="Aptos"/>
              </a:defRPr>
            </a:pPr>
            <a:r>
              <a:t>Errors &amp; monitoring details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06 • MEDALLION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Bronze → Silver → Gold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3429000" cy="7315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677BE"/>
                </a:solidFill>
                <a:latin typeface="Aptos"/>
              </a:defRPr>
            </a:pPr>
            <a:r>
              <a:t>RAW FOUNDATION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2788920" cy="2011680"/>
          </a:xfrm>
          <a:prstGeom prst="roundRect">
            <a:avLst/>
          </a:prstGeom>
          <a:solidFill>
            <a:srgbClr val="E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33D"/>
                </a:solidFill>
                <a:latin typeface="Aptos"/>
              </a:defRPr>
            </a:pPr>
            <a:r>
              <a:t>Preserve source data</a:t>
            </a:r>
            <a:br/>
            <a:r>
              <a:t>Traceability &amp; reprocessing</a:t>
            </a:r>
            <a:br/>
            <a:r>
              <a:t>Unity Catalog / Delta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50791" y="3657600"/>
            <a:ext cx="347473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53128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3128" y="1508760"/>
            <a:ext cx="3429000" cy="73152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9D8B"/>
                </a:solidFill>
                <a:latin typeface="Aptos"/>
              </a:defRPr>
            </a:pPr>
            <a:r>
              <a:t>TRUSTED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73168" y="3063240"/>
            <a:ext cx="2788920" cy="2011680"/>
          </a:xfrm>
          <a:prstGeom prst="roundRect">
            <a:avLst/>
          </a:prstGeom>
          <a:solidFill>
            <a:srgbClr val="E4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33D"/>
                </a:solidFill>
                <a:latin typeface="Aptos"/>
              </a:defRPr>
            </a:pPr>
            <a:r>
              <a:t>Clean &amp; deduplicate</a:t>
            </a:r>
            <a:br/>
            <a:r>
              <a:t>Standardize formats</a:t>
            </a:r>
            <a:br/>
            <a:r>
              <a:t>Join dimensions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3657600"/>
            <a:ext cx="34747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11896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11896" y="1508760"/>
            <a:ext cx="3429000" cy="73152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9746"/>
                </a:solidFill>
                <a:latin typeface="Aptos"/>
              </a:defRPr>
            </a:pPr>
            <a:r>
              <a:t>BUSINESS 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31936" y="3063240"/>
            <a:ext cx="2788920" cy="2011680"/>
          </a:xfrm>
          <a:prstGeom prst="roundRect">
            <a:avLst/>
          </a:prstGeom>
          <a:solidFill>
            <a:srgbClr val="FD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42248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33D"/>
                </a:solidFill>
                <a:latin typeface="Aptos"/>
              </a:defRPr>
            </a:pPr>
            <a:r>
              <a:t>Risk metrics</a:t>
            </a:r>
            <a:br/>
            <a:r>
              <a:t>Aggregations</a:t>
            </a:r>
            <a:br/>
            <a:r>
              <a:t>Dashboards &amp;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07 • 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Bronze Layer — Raw Data Preservation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TARGET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  <a:r>
              <a:t>health_catalog.raw.patient_records</a:t>
            </a:r>
            <a:br/>
            <a:br/>
            <a:r>
              <a:t>Delta table containing raw patient records after ingestion.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429768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  <a:r>
              <a:t>• Unity Catalog governance</a:t>
            </a:r>
            <a:br/>
            <a:r>
              <a:t>• External location where applicable</a:t>
            </a:r>
            <a:br/>
            <a:r>
              <a:t>• Preserve source structure</a:t>
            </a:r>
            <a:br/>
            <a:r>
              <a:t>• Capture ingestion metadata</a:t>
            </a:r>
            <a:br/>
            <a:r>
              <a:t>• Support 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417320"/>
            <a:ext cx="73152" cy="429768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33D"/>
                </a:solidFill>
                <a:latin typeface="Aptos"/>
              </a:defRPr>
            </a:pPr>
            <a:r>
              <a:t>KEY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F3A46"/>
                </a:solidFill>
                <a:latin typeface="Aptos"/>
              </a:defRPr>
            </a:pPr>
            <a:r>
              <a:t>Bronze is the trusted landing foundation — raw enough for traceability, structured enough for downstream processing.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08 • SILVER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Silver Layer — Cleansing &amp;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1463040"/>
            <a:ext cx="594360" cy="59436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77BE"/>
                </a:solidFill>
                <a:latin typeface="Aptos"/>
              </a:defRPr>
            </a:pPr>
            <a:r>
              <a:t>DEDUPLICATE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F3A46"/>
                </a:solidFill>
                <a:latin typeface="Aptos"/>
              </a:defRPr>
            </a:pPr>
            <a:r>
              <a:t>Remove duplicate patient records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1828800"/>
            <a:ext cx="256031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279392" y="14630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9D8B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F3A46"/>
                </a:solidFill>
                <a:latin typeface="Aptos"/>
              </a:defRPr>
            </a:pPr>
            <a:r>
              <a:t>Check schema and acceptable values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71032" y="1828800"/>
            <a:ext cx="25603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095744" y="14630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715BBE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F3A46"/>
                </a:solidFill>
                <a:latin typeface="Aptos"/>
              </a:defRPr>
            </a:pPr>
            <a:r>
              <a:t>Dates, medical codes and types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87384" y="1828800"/>
            <a:ext cx="256032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912096" y="146304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6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29746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F3A46"/>
                </a:solidFill>
                <a:latin typeface="Aptos"/>
              </a:defRPr>
            </a:pPr>
            <a:r>
              <a:t>Join hospital &amp; demographic dimensions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977639"/>
            <a:ext cx="10195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187952"/>
            <a:ext cx="9738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8768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98848"/>
            <a:ext cx="9738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E233D"/>
                </a:solidFill>
                <a:latin typeface="Aptos"/>
              </a:defRPr>
            </a:pPr>
            <a:r>
              <a:t>health_catalog.processed.patient_cleaned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09 •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Gold Layer — Analytics &amp; Risk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6192" y="1664208"/>
            <a:ext cx="502920" cy="50292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05B5B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Patient risk scores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2544" y="166420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77BE"/>
                </a:solidFill>
                <a:latin typeface="Aptos"/>
              </a:defRPr>
            </a:pPr>
            <a:r>
              <a:t>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Population / health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68896" y="1664208"/>
            <a:ext cx="502920" cy="50292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68896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89D8B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Validated analytical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85248" y="166420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85248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715BBE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5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Consumption-ready tables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886200"/>
            <a:ext cx="10561320" cy="12344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133087"/>
            <a:ext cx="10012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8BEC9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80560"/>
            <a:ext cx="10012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health_catalog.analytics.health_metrics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10 • ETL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Low-Level Design — Metadata &amp;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200" name="Low-Level 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207" y="1297304"/>
            <a:ext cx="3477280" cy="521592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11 •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Dashboards &amp; Healthcare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233D"/>
                </a:solidFill>
                <a:latin typeface="Aptos"/>
              </a:defRPr>
            </a:pPr>
            <a:r>
              <a:t>PATIENT ANALYTICS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87684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8775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677BE"/>
                </a:solidFill>
                <a:latin typeface="Aptos"/>
              </a:defRPr>
            </a:pPr>
            <a:r>
              <a:t>12.4K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3042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87684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58775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05B5B"/>
                </a:solidFill>
                <a:latin typeface="Aptos"/>
              </a:defRPr>
            </a:pPr>
            <a:r>
              <a:t>1.8K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3042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87684"/>
                </a:solidFill>
                <a:latin typeface="Aptos"/>
              </a:defRPr>
            </a:pPr>
            <a:r>
              <a:t>CLEAN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58775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9D8B"/>
                </a:solidFill>
                <a:latin typeface="Aptos"/>
              </a:defRPr>
            </a:pPr>
            <a:r>
              <a:t>98.6%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59" y="2103120"/>
            <a:ext cx="2240280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23042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87684"/>
                </a:solidFill>
                <a:latin typeface="Aptos"/>
              </a:defRPr>
            </a:pPr>
            <a:r>
              <a:t>DATA FRESHNESS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258775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15BBE"/>
                </a:solidFill>
                <a:latin typeface="Aptos"/>
              </a:defRPr>
            </a:pPr>
            <a:r>
              <a:t>2 AM UTC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20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233D"/>
                </a:solidFill>
                <a:latin typeface="Aptos"/>
              </a:defRPr>
            </a:pPr>
            <a:r>
              <a:t>RISK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160520"/>
            <a:ext cx="274320" cy="9144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90472" y="3657600"/>
            <a:ext cx="274320" cy="14173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9384" y="4206240"/>
            <a:ext cx="274320" cy="86868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68296" y="3154679"/>
            <a:ext cx="274320" cy="19202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07208" y="3840479"/>
            <a:ext cx="274320" cy="12344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474720"/>
            <a:ext cx="274320" cy="16002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5204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233D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886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F3A46"/>
                </a:solidFill>
                <a:latin typeface="Aptos"/>
              </a:defRPr>
            </a:pPr>
            <a:r>
              <a:t>Patient risk indicators from Gold</a:t>
            </a:r>
          </a:p>
          <a:p>
            <a:pPr>
              <a:spcAft>
                <a:spcPts val="800"/>
              </a:spcAft>
              <a:defRPr sz="1100">
                <a:solidFill>
                  <a:srgbClr val="2F3A46"/>
                </a:solidFill>
                <a:latin typeface="Aptos"/>
              </a:defRPr>
            </a:pPr>
            <a:r>
              <a:t>Aggregated healthcare metrics</a:t>
            </a:r>
          </a:p>
          <a:p>
            <a:pPr>
              <a:spcAft>
                <a:spcPts val="800"/>
              </a:spcAft>
              <a:defRPr sz="1100">
                <a:solidFill>
                  <a:srgbClr val="2F3A46"/>
                </a:solidFill>
                <a:latin typeface="Aptos"/>
              </a:defRPr>
            </a:pPr>
            <a:r>
              <a:t>Analytics-ready reporting 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5204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233D"/>
                </a:solidFill>
                <a:latin typeface="Aptos"/>
              </a:defRPr>
            </a:pPr>
            <a:r>
              <a:t>CONSUMPTION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931920"/>
            <a:ext cx="2743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F3A46"/>
                </a:solidFill>
                <a:latin typeface="Aptos"/>
              </a:defRPr>
            </a:pPr>
            <a:r>
              <a:t>Gold tables provide consistent, trusted data for dashboards and decision support.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12 •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Alerts, Monitoring &amp;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PIPELINE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Notify the team when ETL jobs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DATA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Flag quality or unexpected data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9776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39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SLACK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Send operational notifications in real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39776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ERROR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A46"/>
                </a:solidFill>
                <a:latin typeface="Aptos"/>
              </a:defRPr>
            </a:pPr>
            <a:r>
              <a:t>Store failures and abnormal records for troubleshooting.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5532120"/>
            <a:ext cx="8321040" cy="475488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5641848"/>
            <a:ext cx="8321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health_catalog.logs.etl_errors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13 •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Airflow Pipeline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677BE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F3A46"/>
                </a:solidFill>
                <a:latin typeface="Aptos"/>
              </a:defRPr>
            </a:pPr>
            <a:r>
              <a:t>Daily trigger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93976" y="2450592"/>
            <a:ext cx="310896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41448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8BEC9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F3A46"/>
                </a:solidFill>
                <a:latin typeface="Aptos"/>
              </a:defRPr>
            </a:pPr>
            <a:r>
              <a:t>ADF / storage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32504" y="2450592"/>
            <a:ext cx="310896" cy="0"/>
          </a:xfrm>
          <a:prstGeom prst="line">
            <a:avLst/>
          </a:prstGeom>
          <a:ln w="31750">
            <a:solidFill>
              <a:srgbClr val="28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6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715BBE"/>
                </a:solidFill>
                <a:latin typeface="Aptos"/>
              </a:defRPr>
            </a:pPr>
            <a: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F3A46"/>
                </a:solidFill>
                <a:latin typeface="Aptos"/>
              </a:defRPr>
            </a:pPr>
            <a:r>
              <a:t>Raw Delta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71032" y="2450592"/>
            <a:ext cx="310896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18504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89D8B"/>
                </a:solidFill>
                <a:latin typeface="Aptos"/>
              </a:defRPr>
            </a:pPr>
            <a:r>
              <a:t>SILVER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F3A46"/>
                </a:solidFill>
                <a:latin typeface="Aptos"/>
              </a:defRPr>
            </a:pPr>
            <a:r>
              <a:t>Clean + enrich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09560" y="2450592"/>
            <a:ext cx="310896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57032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9746"/>
                </a:solidFill>
                <a:latin typeface="Aptos"/>
              </a:defRPr>
            </a:pPr>
            <a:r>
              <a:t>GOLD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F3A46"/>
                </a:solidFill>
                <a:latin typeface="Aptos"/>
              </a:defRPr>
            </a:pPr>
            <a:r>
              <a:t>Metrics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48088" y="2450592"/>
            <a:ext cx="310896" cy="0"/>
          </a:xfrm>
          <a:prstGeom prst="line">
            <a:avLst/>
          </a:prstGeom>
          <a:ln w="31750">
            <a:solidFill>
              <a:srgbClr val="F29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19556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05B5B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F3A46"/>
                </a:solidFill>
                <a:latin typeface="Aptos"/>
              </a:defRPr>
            </a:pPr>
            <a:r>
              <a:t>Slack /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86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33D"/>
                </a:solidFill>
                <a:latin typeface="Aptos"/>
              </a:defRPr>
            </a:pPr>
            <a:r>
              <a:t>ORCHESTRATION RESPONSIBILITIES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34340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F3A46"/>
                </a:solidFill>
                <a:latin typeface="Aptos"/>
              </a:defRPr>
            </a:pPr>
            <a:r>
              <a:t>Schedule daily execution and manage dependencies.</a:t>
            </a:r>
          </a:p>
          <a:p>
            <a:pPr>
              <a:spcAft>
                <a:spcPts val="800"/>
              </a:spcAft>
              <a:defRPr sz="1200">
                <a:solidFill>
                  <a:srgbClr val="2F3A46"/>
                </a:solidFill>
                <a:latin typeface="Aptos"/>
              </a:defRPr>
            </a:pPr>
            <a:r>
              <a:t>Trigger Databricks notebooks/jobs for each medallion layer.</a:t>
            </a:r>
          </a:p>
          <a:p>
            <a:pPr>
              <a:spcAft>
                <a:spcPts val="800"/>
              </a:spcAft>
              <a:defRPr sz="1200">
                <a:solidFill>
                  <a:srgbClr val="2F3A46"/>
                </a:solidFill>
                <a:latin typeface="Aptos"/>
              </a:defRPr>
            </a:pPr>
            <a:r>
              <a:t>Monitor task status and route failures to alerting.</a:t>
            </a:r>
          </a:p>
          <a:p>
            <a:pPr>
              <a:spcAft>
                <a:spcPts val="800"/>
              </a:spcAft>
              <a:defRPr sz="1200">
                <a:solidFill>
                  <a:srgbClr val="2F3A46"/>
                </a:solidFill>
                <a:latin typeface="Aptos"/>
              </a:defRPr>
            </a:pPr>
            <a:r>
              <a:t>Provide a repeatable, automated production workflow.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14 •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PyTest &amp; Data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1252728" y="1463040"/>
            <a:ext cx="658368" cy="65836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677BE"/>
                </a:solidFill>
                <a:latin typeface="Aptos"/>
              </a:defRPr>
            </a:pPr>
            <a:r>
              <a:t>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Required tables created</a:t>
            </a:r>
          </a:p>
        </p:txBody>
      </p:sp>
      <p:sp>
        <p:nvSpPr>
          <p:cNvPr id="11" name="Oval 10"/>
          <p:cNvSpPr/>
          <p:nvPr/>
        </p:nvSpPr>
        <p:spPr>
          <a:xfrm>
            <a:off x="3493008" y="1463040"/>
            <a:ext cx="658368" cy="65836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89D8B"/>
                </a:solidFill>
                <a:latin typeface="Aptos"/>
              </a:defRPr>
            </a:pPr>
            <a:r>
              <a:t>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Outputs are non-empty</a:t>
            </a:r>
          </a:p>
        </p:txBody>
      </p:sp>
      <p:sp>
        <p:nvSpPr>
          <p:cNvPr id="15" name="Oval 14"/>
          <p:cNvSpPr/>
          <p:nvPr/>
        </p:nvSpPr>
        <p:spPr>
          <a:xfrm>
            <a:off x="5733288" y="1463040"/>
            <a:ext cx="658368" cy="65836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715BBE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Columns &amp; types validated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1463040"/>
            <a:ext cx="658368" cy="65836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29746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Duplicate detection</a:t>
            </a:r>
          </a:p>
        </p:txBody>
      </p:sp>
      <p:sp>
        <p:nvSpPr>
          <p:cNvPr id="23" name="Oval 22"/>
          <p:cNvSpPr/>
          <p:nvPr/>
        </p:nvSpPr>
        <p:spPr>
          <a:xfrm>
            <a:off x="10213848" y="1463040"/>
            <a:ext cx="658368" cy="658368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1384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E05B5B"/>
                </a:solidFill>
                <a:latin typeface="Aptos"/>
              </a:defRPr>
            </a:pPr>
            <a:r>
              <a:t>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2F3A46"/>
                </a:solidFill>
                <a:latin typeface="Aptos"/>
              </a:defRPr>
            </a:pPr>
            <a:r>
              <a:t>Invalid values filtered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3886200"/>
            <a:ext cx="8503920" cy="10058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133087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8BEC9"/>
                </a:solidFill>
                <a:latin typeface="Aptos"/>
              </a:defRPr>
            </a:pPr>
            <a:r>
              <a:t>QA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45312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Only validated datasets move forward to analytics consumption.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677BE"/>
                </a:solidFill>
                <a:latin typeface="Aptos"/>
              </a:defRPr>
            </a:pPr>
            <a:r>
              <a:t>15 •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E233D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68768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70992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645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Azure Blob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0391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Cloud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709928"/>
            <a:ext cx="502920" cy="502920"/>
          </a:xfrm>
          <a:prstGeom prst="ellipse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7190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645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ADF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0391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Data ingestion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30768" y="170992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71907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645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Databricks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0391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260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7" y="3218688"/>
            <a:ext cx="502920" cy="50292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22783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154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PySpark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5478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Transformations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9260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36008" y="3218688"/>
            <a:ext cx="502920" cy="50292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322783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3154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Delta 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0952" y="35478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Reliable tables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9260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0768" y="3218688"/>
            <a:ext cx="502920" cy="50292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22783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154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dbt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54787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SQL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4348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7" y="4727448"/>
            <a:ext cx="502920" cy="50292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7365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46634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Airflow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6192" y="5056631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44348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36008" y="472744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36008" y="47365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0952" y="46634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PyTest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0952" y="5056631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443484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472744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0768" y="473659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46634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233D"/>
                </a:solidFill>
                <a:latin typeface="Aptos"/>
              </a:defRPr>
            </a:pPr>
            <a:r>
              <a:t>Slack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5056631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87684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657453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87684"/>
                </a:solidFill>
                <a:latin typeface="Aptos"/>
              </a:defRPr>
            </a:pPr>
            <a:r>
              <a:t>HEALTHCARE PATIENT ANALYTICS  •  DATA ENGINEERING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8BEC9"/>
                </a:solidFill>
                <a:latin typeface="Aptos"/>
              </a:defRPr>
            </a:pPr>
            <a:r>
              <a:t>FINAL •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Business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CE8F3"/>
                </a:solidFill>
                <a:latin typeface="Aptos"/>
              </a:defRPr>
            </a:pPr>
            <a:r>
              <a:t>A scalable, automated healthcare data platform that turns raw records into reliable insights.</a:t>
            </a:r>
          </a:p>
        </p:txBody>
      </p:sp>
      <p:sp>
        <p:nvSpPr>
          <p:cNvPr id="6" name="Oval 5"/>
          <p:cNvSpPr/>
          <p:nvPr/>
        </p:nvSpPr>
        <p:spPr>
          <a:xfrm>
            <a:off x="749808" y="2697480"/>
            <a:ext cx="320040" cy="32004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06624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6791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Scalable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679192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6E0EA"/>
                </a:solidFill>
                <a:latin typeface="Aptos"/>
              </a:defRPr>
            </a:pPr>
            <a:r>
              <a:t>Supports daily healthcare data processing.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3264408"/>
            <a:ext cx="320040" cy="32004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73552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2461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Reliable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4612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6E0EA"/>
                </a:solidFill>
                <a:latin typeface="Aptos"/>
              </a:defRPr>
            </a:pPr>
            <a:r>
              <a:t>Improves data quality and traceability.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831336"/>
            <a:ext cx="320040" cy="32004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40480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8130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Actionable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813048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6E0EA"/>
                </a:solidFill>
                <a:latin typeface="Aptos"/>
              </a:defRPr>
            </a:pPr>
            <a:r>
              <a:t>Produces patient risk metrics for analytics.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398264"/>
            <a:ext cx="320040" cy="32004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07408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37997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Automated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379976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6E0EA"/>
                </a:solidFill>
                <a:latin typeface="Aptos"/>
              </a:defRPr>
            </a:pPr>
            <a:r>
              <a:t>Reduces manual monitoring and operational effort.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4965192"/>
            <a:ext cx="320040" cy="32004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974336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9469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Extensible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946904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D6E0EA"/>
                </a:solidFill>
                <a:latin typeface="Aptos"/>
              </a:defRPr>
            </a:pPr>
            <a:r>
              <a:t>Ready for additional datasets and predictive use cases.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806440"/>
            <a:ext cx="10698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95274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233D"/>
                </a:solidFill>
                <a:latin typeface="Aptos"/>
              </a:defRPr>
            </a:pPr>
            <a:r>
              <a:t>RAW  →  TRUSTED  →  ANALYTICS  →  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